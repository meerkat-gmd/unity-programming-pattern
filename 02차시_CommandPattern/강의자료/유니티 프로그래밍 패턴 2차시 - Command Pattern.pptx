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Command 패턴을 Unity/C# 수업으로 다룬다. 핵심 목표는 '버튼을 누르면 바로 함수 호출'이라는 구조를 '실행할 일을 객체로 만든다'는 구조로 바꾸는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흐름은 입력 설정, Actor 대상 분리, Command Stream, 네트워크와 리플레이, Undo/Redo, 함수형 대안, 관련 패턴 순서다.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흐름은 입력 설정, Actor 대상 분리, Command Stream, 네트워크와 리플레이, Undo/Redo, 함수형 대안, 관련 패턴 순서다.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흐름은 입력 설정, Actor 대상 분리, Command Stream, 네트워크와 리플레이, Undo/Redo, 함수형 대안, 관련 패턴 순서다.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X/Y/A/B 버튼이 jump, fireGun, swapWeapon, lurchIneffectively를 직접 호출하는 코드에서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호출 방식은 빠르지만, 입력 코드가 버튼 처리와 게임 행동을 동시에 책임지게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표현은 reified method call이다.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 추상 구조를 C# 인터페이스로 바꾼 예시다.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 InputHandler가 buttonX_, buttonY_ 포인터를 들고 있던 구조를 C# 프로퍼티로 표현했다.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Null Object를 함께 언급한다.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컨트롤러 매핑 구조를 Unity 관점으로 시각화했다.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Actor에게 명령을 전달하는 구조를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Command::execute(GameActor&amp; actor)로 표현한다.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handleInput()이 Command 포인터를 반환한다.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 생산자와 Actor 소비자가 분리된다.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AI 엔진이 Command를 내보내면 Actor 코드와 AI 선택 로직이 분리된다고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명령을 스트림으로 생각하라고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네트워크 멀티플레이와 리플레이에서 Command Stream이 유용하다고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Command 패턴의 대표 사례로 Undo를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실습에서는 Undo 가능한 명령을 따로 분리한다.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MoveUnitCommand는 특정 유닛과 목적지 좌표를 가진다.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xBefore_, yBefore_를 저장한다.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방향 입력마다 새 MoveUnitCommand를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대부분의 편집기와 동일하게, Undo 후 새 명령을 실행하면 오른쪽에 있던 Redo 후보는 삭제된다.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Undo/Redo 흐름을 C# 리스트와 current 인덱스로 구현한 형태다.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자주 헷갈리는 규칙을 정리한다.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Redo보다 Replay가 게임에서 더 흔할 수 있다고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JavaScript 클로저 예시로 함수형 Command를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ActionCommand는 상태 저장과 Undo에는 약하다.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관련 패턴을 함께 정리한다.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메서드를 Command로 만들 필요는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Unity에서는 씬 오브젝트 참조를 그대로 리플레이 로그에 저장하면 위험하다.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프로젝트는 작은 2D 격자 이동 예제다.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과제 명세다.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저장소는 차시별 수업자료와 실습자료를 함께 관리한다.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단계는 MoveUnitCommand 완성이다.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단계는 히스토리와 입력 연결이다.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 수업이므로 단순히 작동하는 것보다 구조가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 과제는 예제의 입력 설정, Actor 분리, 리플레이, AI 응용으로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마지막에는 정의를 다시 반복한다.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13232"/>
            <a:ext cx="914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Pattern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487168"/>
            <a:ext cx="165963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688336"/>
            <a:ext cx="1513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2510028" y="269748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47188" y="2487168"/>
            <a:ext cx="165963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0340" y="2688336"/>
            <a:ext cx="1513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334256" y="269748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71416" y="2487168"/>
            <a:ext cx="165963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688336"/>
            <a:ext cx="1513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158484" y="269748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95644" y="2487168"/>
            <a:ext cx="165963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8796" y="2688336"/>
            <a:ext cx="1513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3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53312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Pattern을 '함수 호출을 객체로 만든 것'으로 설명한다.</a:t>
            </a:r>
            <a:endParaRPr lang="en-US" sz="1820" dirty="0"/>
          </a:p>
        </p:txBody>
      </p:sp>
      <p:sp>
        <p:nvSpPr>
          <p:cNvPr id="9" name="Shape 7"/>
          <p:cNvSpPr/>
          <p:nvPr/>
        </p:nvSpPr>
        <p:spPr>
          <a:xfrm>
            <a:off x="804672" y="209397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93392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리플레이가 같은 명령 인터페이스를 쓰게 만든다.</a:t>
            </a:r>
            <a:endParaRPr lang="en-US" sz="1820" dirty="0"/>
          </a:p>
        </p:txBody>
      </p:sp>
      <p:sp>
        <p:nvSpPr>
          <p:cNvPr id="11" name="Shape 9"/>
          <p:cNvSpPr/>
          <p:nvPr/>
        </p:nvSpPr>
        <p:spPr>
          <a:xfrm>
            <a:off x="804672" y="273405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33472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Undo/Redo를 위해 명령이 바꾼 최소 상태를 저장한다.</a:t>
            </a:r>
            <a:endParaRPr lang="en-US" sz="1820" dirty="0"/>
          </a:p>
        </p:txBody>
      </p:sp>
      <p:sp>
        <p:nvSpPr>
          <p:cNvPr id="13" name="Shape 11"/>
          <p:cNvSpPr/>
          <p:nvPr/>
        </p:nvSpPr>
        <p:spPr>
          <a:xfrm>
            <a:off x="804672" y="337413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73552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실습에서 이동 명령과 히스토리를 직접 완성한다.</a:t>
            </a:r>
            <a:endParaRPr lang="en-US" sz="1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흐름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53312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Configuring Input: 버튼과 행동을 직접 연결하지 않는다.</a:t>
            </a:r>
            <a:endParaRPr lang="en-US" sz="1660" dirty="0"/>
          </a:p>
        </p:txBody>
      </p:sp>
      <p:sp>
        <p:nvSpPr>
          <p:cNvPr id="9" name="Shape 7"/>
          <p:cNvSpPr/>
          <p:nvPr/>
        </p:nvSpPr>
        <p:spPr>
          <a:xfrm>
            <a:off x="804672" y="217627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75688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Directions for Actors: 명령은 특정 플레이어가 아니라 Actor에게 실행된다.</a:t>
            </a:r>
            <a:endParaRPr lang="en-US" sz="1660" dirty="0"/>
          </a:p>
        </p:txBody>
      </p:sp>
      <p:sp>
        <p:nvSpPr>
          <p:cNvPr id="11" name="Shape 9"/>
          <p:cNvSpPr/>
          <p:nvPr/>
        </p:nvSpPr>
        <p:spPr>
          <a:xfrm>
            <a:off x="804672" y="289864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98064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Stream: 큐, 네트워크, 리플레이로 확장된다.</a:t>
            </a:r>
            <a:endParaRPr lang="en-US" sz="1660" dirty="0"/>
          </a:p>
        </p:txBody>
      </p:sp>
      <p:sp>
        <p:nvSpPr>
          <p:cNvPr id="13" name="Shape 11"/>
          <p:cNvSpPr/>
          <p:nvPr/>
        </p:nvSpPr>
        <p:spPr>
          <a:xfrm>
            <a:off x="804672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20440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and Redo: 실행한 명령이 되돌릴 방법을 안다.</a:t>
            </a:r>
            <a:endParaRPr lang="en-US" sz="1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흐름 2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53312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Classy and Dysfunctional: 클래스 대신 함수/클로저로도 표현할 수 있다.</a:t>
            </a:r>
            <a:endParaRPr lang="en-US" sz="1660" dirty="0"/>
          </a:p>
        </p:txBody>
      </p:sp>
      <p:sp>
        <p:nvSpPr>
          <p:cNvPr id="9" name="Shape 7"/>
          <p:cNvSpPr/>
          <p:nvPr/>
        </p:nvSpPr>
        <p:spPr>
          <a:xfrm>
            <a:off x="804672" y="217627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75688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 Sandbox: Command 클래스가 많아질 때 공통 도우미를 제공한다.</a:t>
            </a:r>
            <a:endParaRPr lang="en-US" sz="1660" dirty="0"/>
          </a:p>
        </p:txBody>
      </p:sp>
      <p:sp>
        <p:nvSpPr>
          <p:cNvPr id="11" name="Shape 9"/>
          <p:cNvSpPr/>
          <p:nvPr/>
        </p:nvSpPr>
        <p:spPr>
          <a:xfrm>
            <a:off x="804672" y="289864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98064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 of Responsibility: 명령 처리자를 계층적으로 찾는다.</a:t>
            </a:r>
            <a:endParaRPr lang="en-US" sz="1660" dirty="0"/>
          </a:p>
        </p:txBody>
      </p:sp>
      <p:sp>
        <p:nvSpPr>
          <p:cNvPr id="13" name="Shape 11"/>
          <p:cNvSpPr/>
          <p:nvPr/>
        </p:nvSpPr>
        <p:spPr>
          <a:xfrm>
            <a:off x="804672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20440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Flyweight: 상태 없는 Command는 공유할 수 있다.</a:t>
            </a:r>
            <a:endParaRPr lang="en-US" sz="1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코드: 입력이 행동을 직접 호출한다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버튼과 행동이 코드 안에서 고정되어 있다.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(Input.GetKeyDown(KeyCode.X)) Jump();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(Input.GetKeyDown(KeyCode.Y)) FireGun();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(Input.GetKeyDown(KeyCode.A)) SwapWeapon();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(Input.GetKeyDown(KeyCode.B)) LurchIneffectively();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호출 구조의 문제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코드가 너무 많은 것을 알게 된다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설정 변경은 입력 코드 수정으로 이어진다.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같은 행동을 쓰려면 중복 경로가 생긴다.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리플레이와 Undo를 기록할 지점이 분명하지 않다.</a:t>
            </a:r>
            <a:endParaRPr lang="en-US" sz="1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Command의 핵심 정의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= 함수 호출을 객체로 만든 것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88950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78892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객체가 되면 변수에 저장하고 큐에 넣을 수 있다.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1985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1927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실행하거나 다른 시스템으로 넘길 수 있다.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395020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849624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네트워크, 툴 UI 사이의 공통 언어가 된다.</a:t>
            </a:r>
            <a:endParaRPr lang="en-US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작은 C# Command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보통 Execute 하나로 시작한다.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ICommand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Execute();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JumpCommand : ICommand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Execute()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PlayerActions.Jump();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핸들러는 Command를 보관한다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코드는 구체 행동을 모른다.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InputHandler : MonoBehaviour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ICommand ButtonX { get; set; }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ICommand ButtonY { get; set; }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(Input.GetKeyDown(KeyCode.X)) ButtonX.Execute();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(Input.GetKeyDown(KeyCode.Y)) ButtonY.Execute();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Object: 아무것도 안 하는 명령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버튼은 있지만 아직 기능이 없을 수 있다.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NullCommand : ICommand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Execute()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Intentionally empty.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handler.ButtonB = new NullCommand();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매핑의 변화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호출을 객체로 만들면 버튼 설정을 런타임에 바꿀 수 있다.</a:t>
            </a:r>
            <a:endParaRPr lang="en-US" sz="184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키 설정, 패드/키보드 동시 지원, 튜토리얼 입력 잠금에 유리하다.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시스템은 게임 행동의 세부 구현을 몰라도 된다.</a:t>
            </a:r>
            <a:endParaRPr lang="en-US" sz="15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버전의 한계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04672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59536" y="194767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847088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JumpCommand가 PlayerActions.Jump()를 직접 호출한다.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59536" y="273405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633472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캐릭터나 다른 유닛에게 재사용하기 어렵다.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59536" y="3520440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419856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명령이 실행 대상까지 알고 있다.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855464" y="194767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1847088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행동만 알고 대상은 밖에서 받는다.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4855464" y="273405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633472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Execute(actor) 형태로 실행 대상을 분리한다.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4855464" y="352044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3419856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명령을 여러 Actor에게 적용한다.</a:t>
            </a:r>
            <a:endParaRPr lang="en-US" sz="14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Actor를 받는 Command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명령을 플레이어, AI, 다른 유닛에게 쓸 수 있다.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IActorCommand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Execute(GameActor actor);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JumpActorCommand : IActorCommand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Execute(GameActor actor)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actor.Jump();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Command를 반환한다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핸들러는 번역만 담당한다.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IActorCommand HandleInput()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(Input.GetKeyDown(KeyCode.X)) return buttonX;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(Input.GetKeyDown(KeyCode.Y)) return buttonY;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null;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반환된 Command 실행하기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실행할지는 입력 핸들러 밖에서 결정한다.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IActorCommand command = HandleInput();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(command != 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command.Execute(currentActor);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리플레이가 같은 언어를 쓴다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명령을 만들었는지와 누가 실행하는지는 별개다.</a:t>
            </a:r>
            <a:endParaRPr lang="en-US" sz="184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 Input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Brain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 Log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Command를 생성하기만 하면 Actor 코드를 재사용한다.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리플레이는 저장된 Command를 같은 실행 경로로 다시 넣는다.</a:t>
            </a:r>
            <a:endParaRPr lang="en-US" sz="15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Stream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객체이므로 저장, 전달, 지연 실행할 수 있다.</a:t>
            </a:r>
            <a:endParaRPr lang="en-US" sz="184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Producer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Queue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Consumer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네트워크 수신부가 Producer가 될 수 있다.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큐는 실행 순서와 시스템 간 완충 역할을 한다.</a:t>
            </a:r>
            <a:endParaRPr lang="en-US" sz="15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네트워크와 리플레이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상태가 아니라, 실행된 Command 목록을 기록한다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멀티플레이에서는 Command를 직렬화해서 전송할 수 있다.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리플레이는 Command 로그를 다시 실행해 플레이를 재현한다.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결정론, 랜덤 시드, 버전 호환성은 별도 관리가 필요하다.</a:t>
            </a:r>
            <a:endParaRPr lang="en-US" sz="1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Undo/Redo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실행한 일을 객체로 들고 있으면, 되돌릴 일도 객체에게 맡길 수 있다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에디터, 턴제 전략, 맵 편집 툴에서 특히 중요하다.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Execute와 Undo를 함께 제공할 수 있다.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변경은 Command를 통해서만 일어나야 히스토리가 정확하다.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가능한 인터페이스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있는 명령은 Execute와 Undo를 가진다.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600200"/>
            <a:ext cx="7909560" cy="2423160"/>
          </a:xfrm>
          <a:prstGeom prst="roundRect">
            <a:avLst>
              <a:gd name="adj" fmla="val 2264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64792"/>
            <a:ext cx="750722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IUndoableCommand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Execute();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Undo();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MoveUnitCommand의 상태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대상, 목적지, 이전 위치를 필드로 가진다.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600200"/>
            <a:ext cx="7909560" cy="2606040"/>
          </a:xfrm>
          <a:prstGeom prst="roundRect">
            <a:avLst>
              <a:gd name="adj" fmla="val 2105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64792"/>
            <a:ext cx="750722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MoveUnitCommand : IUndoableCommand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Unit unit;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Vector2Int destination;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Vector2Int before;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MoveUnitCommand 완성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명령은 이전 위치만 저장해도 되돌릴 수 있다.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Execute()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= unit.GridPosition;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unit.MoveTo(destination);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70" dirty="0"/>
          </a:p>
          <a:p>
            <a:pPr indent="0" marL="0">
              <a:buNone/>
            </a:pP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Undo()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unit.MoveTo(before);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입력할 때마다 새 명령을 만든다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 입력은 곧 MoveUnitCommand 생성이다.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Vector2Int pos = unit.GridPosition;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(Input.GetKeyDown(KeyCode.UpArrow))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MoveUnitCommand(unit, pos + Vector2Int.up);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(Input.GetKeyDown(KeyCode.DownArrow))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MoveUnitCommand(unit, pos + Vector2Int.down);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null;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CommandHistory.Execute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후 새 행동을 하면 미래 기록은 무효가 된다.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Execute(IUndoableCommand command)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commands.RemoveRange(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+ 1,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commands.Count - current - 1);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commands.Add(command);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current++;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command.Execute();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Undo와 Redo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히스토리는 선형 시간표처럼 다룬다.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Undo()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(current &lt; 0) return;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commands[current].Undo();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current--;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90" dirty="0"/>
          </a:p>
          <a:p>
            <a:pPr indent="0" marL="0">
              <a:buNone/>
            </a:pP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Redo()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(current + 1 &gt;= commands.Count) return;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current++;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commands[current].Execute();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9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Undo/Redo 규칙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현재보다 오른쪽은 Redo 후보이고, 새 명령이 들어오면 사라진다.</a:t>
            </a:r>
            <a:endParaRPr lang="en-US" sz="184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Redo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Undo: 현재 명령을 되돌리고 왼쪽으로 이동한다.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Redo: 오른쪽으로 이동한 뒤 다시 Execute한다.</a:t>
            </a:r>
            <a:endParaRPr lang="en-US" sz="15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Replay는 Undo와 다르다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Replay는 되돌리기가 아니라, 같은 명령을 다시 흘려보내는 것이다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Undo는 이전 상태를 기억한다.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Replay는 시간 순서의 Command 로그를 다시 실행한다.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녹화보다 가볍지만 시뮬레이션 일관성이 중요하다.</a:t>
            </a:r>
            <a:endParaRPr lang="en-US" sz="17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클래스만 정답일까?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C#에서는 람다와 Action도 작은 Command처럼 쓸 수 있다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UI 동작은 Action으로 충분할 수 있다.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Undo, 직렬화, 디버깅, 기록이 필요하면 명시적 클래스가 좋다.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팀에서는 콜백과 게임 상태 변경 명령을 구분하는 규칙이 필요하다.</a:t>
            </a:r>
            <a:endParaRPr lang="en-US" sz="1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ActionCommand 예시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함수를 객체로 감싸는 얇은 어댑터다.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ActionCommand : ICommand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Action action;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ActionCommand(Action action)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this.action = action;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Execute() =&gt; action?.Invoke();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패턴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53312"/>
            <a:ext cx="7406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 Sandbox: Command 클래스가 많아질 때 기반 클래스가 공통 도우미를 제공한다.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4672" y="21854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84832"/>
            <a:ext cx="7406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 of Responsibility: 어떤 객체가 명령을 처리할지 계층을 따라 넘긴다.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" y="291693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16352"/>
            <a:ext cx="7406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Flyweight: 상태 없는 Command는 여러 번 만들지 않고 공유할 수 있다.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Command를 쓰면 좋은 신호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53312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행동을 나중에 실행하거나 취소해야 한다.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4672" y="210312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02536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네트워크, UI가 같은 행동 인터페이스를 써야 한다.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4672" y="27523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51760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바인딩이나 단축키를 런타임에 바꿔야 한다.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4672" y="340156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00984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상태 변경을 로그로 남기거나 재현하고 싶다.</a:t>
            </a:r>
            <a:endParaRPr lang="en-US" sz="1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53312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클래스가 너무 많아지면 네이밍과 파일 관리가 부담된다.</a:t>
            </a:r>
            <a:endParaRPr lang="en-US" sz="1720" dirty="0"/>
          </a:p>
        </p:txBody>
      </p:sp>
      <p:sp>
        <p:nvSpPr>
          <p:cNvPr id="9" name="Shape 7"/>
          <p:cNvSpPr/>
          <p:nvPr/>
        </p:nvSpPr>
        <p:spPr>
          <a:xfrm>
            <a:off x="804672" y="210312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02536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명령은 Execute 전에 이전 상태를 반드시 저장해야 한다.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804672" y="27523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51760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밖에서 상태를 몰래 바꾸면 히스토리가 깨진다.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>
            <a:off x="804672" y="340156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00984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저장/리플레이용 Command는 오브젝트 참조보다 ID가 안전하다.</a:t>
            </a:r>
            <a:endParaRPr lang="en-US" sz="17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아키텍처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방향키는 이동 명령을 만들고, Z/Y는 Undo/Redo를 호출한다.</a:t>
            </a:r>
            <a:endParaRPr lang="en-US" sz="184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InputReader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MoveCommand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GridUnit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코드는 MoveTo를 직접 부르지 않는다.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이동은 CommandHistory.Execute를 통과한다.</a:t>
            </a:r>
            <a:endParaRPr lang="en-US" sz="15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문제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TASK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`02차시_CommandPattern/실습파일/CommandPatternUnityPractice`를 Unity Hub에서 연다.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`MoveUnitCommand`의 Execute와 Undo를 완성한다.</a:t>
            </a:r>
            <a:endParaRPr lang="en-US" sz="1560" dirty="0"/>
          </a:p>
        </p:txBody>
      </p:sp>
      <p:sp>
        <p:nvSpPr>
          <p:cNvPr id="13" name="Shape 11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`CommandHistory`의 Execute, Undo, Redo를 완성한다.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`PlayerInputReader`가 방향키 입력으로 MoveUnitCommand를 만들게 한다.</a:t>
            </a:r>
            <a:endParaRPr lang="en-US" sz="15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배포와 다운로드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GIT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학생: `git clone https://github.com/Meerkat-GMD/unity-programming-pattern.git`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Hub → Add project from disk → 실습 프로젝트 폴더 선택</a:t>
            </a:r>
            <a:endParaRPr lang="en-US" sz="1560" dirty="0"/>
          </a:p>
        </p:txBody>
      </p:sp>
      <p:sp>
        <p:nvSpPr>
          <p:cNvPr id="13" name="Shape 11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버전은 `ProjectSettings/ProjectVersion.txt`를 확인한다.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PPT는 `02차시_CommandPattern/강의자료`에서 연다.</a:t>
            </a:r>
            <a:endParaRPr lang="en-US" sz="15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1-4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TODO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`Execute()`에서 이동 전 `GridPosition`을 `before`에 저장한다.</a:t>
            </a:r>
            <a:endParaRPr lang="en-US" sz="1570" dirty="0"/>
          </a:p>
        </p:txBody>
      </p:sp>
      <p:sp>
        <p:nvSpPr>
          <p:cNvPr id="11" name="Shape 9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`Execute()`에서 목적지로 `MoveTo(destination)`을 호출한다.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`Undo()`에서 `MoveTo(before)`로 되돌린다.</a:t>
            </a:r>
            <a:endParaRPr lang="en-US" sz="1570" dirty="0"/>
          </a:p>
        </p:txBody>
      </p:sp>
      <p:sp>
        <p:nvSpPr>
          <p:cNvPr id="15" name="Shape 13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호출 대신 Command를 통해 상태가 바뀌는지 확인한다.</a:t>
            </a:r>
            <a:endParaRPr lang="en-US" sz="157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5-8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TODO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`Execute()`에서 Redo 후보를 삭제하고 새 명령을 저장한다.</a:t>
            </a:r>
            <a:endParaRPr lang="en-US" sz="1570" dirty="0"/>
          </a:p>
        </p:txBody>
      </p:sp>
      <p:sp>
        <p:nvSpPr>
          <p:cNvPr id="11" name="Shape 9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`Undo()`와 `Redo()`의 범위 체크를 구현한다.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`PlayerInputReader`에서 방향키 입력을 Command로 변환한다.</a:t>
            </a:r>
            <a:endParaRPr lang="en-US" sz="1570" dirty="0"/>
          </a:p>
        </p:txBody>
      </p:sp>
      <p:sp>
        <p:nvSpPr>
          <p:cNvPr id="15" name="Shape 13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후 새 이동을 하면 Redo가 사라지는지 확인한다.</a:t>
            </a:r>
            <a:endParaRPr lang="en-US" sz="157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기준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PASS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 이동, Undo, Redo가 정상 동작한다.</a:t>
            </a:r>
            <a:endParaRPr lang="en-US" sz="1580" dirty="0"/>
          </a:p>
        </p:txBody>
      </p:sp>
      <p:sp>
        <p:nvSpPr>
          <p:cNvPr id="11" name="Shape 9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코드에 `unit.MoveTo()` 직접 호출이 남아 있지 않다.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후 새 이동을 하면 Redo 후보가 사라진다.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InputReader, Command, History, Unit 책임이 분리되어 있다.</a:t>
            </a:r>
            <a:endParaRPr lang="en-US" sz="15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과제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PLUS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 이동 또는 공격 Command 추가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" y="244144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40864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로그 저장 후 Replay 구현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" y="29900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889504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WASD 키 바인딩 추가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1248" y="353872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38144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랜덤 Command를 생성하게 만들기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'지금 이 함수를 불러라'를 '이 일을 나타내는 객체'로 바꾼다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객체가 되면 저장, 교체, 전송, 취소, 재실행이 가능하다.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매핑은 입구이고 Undo/Replay는 강력한 응용이다.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Unity에서는 상태 변경을 CommandHistory로 통제하는 연습이 중요하다.</a:t>
            </a:r>
            <a:endParaRPr lang="en-US" sz="1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2차시 - Command Pattern</dc:title>
  <dc:subject>Game Programming Patterns - Command Pattern</dc:subject>
  <dc:creator>Codex</dc:creator>
  <cp:lastModifiedBy>Codex</cp:lastModifiedBy>
  <cp:revision>1</cp:revision>
  <dcterms:created xsi:type="dcterms:W3CDTF">2026-05-11T01:16:48Z</dcterms:created>
  <dcterms:modified xsi:type="dcterms:W3CDTF">2026-05-11T01:16:48Z</dcterms:modified>
</cp:coreProperties>
</file>