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2" r:id="rId27"/>
    <p:sldId id="283" r:id="rId28"/>
    <p:sldId id="284" r:id="rId29"/>
    <p:sldId id="285" r:id="rId30"/>
    <p:sldId id="287" r:id="rId31"/>
    <p:sldId id="288" r:id="rId32"/>
    <p:sldId id="289" r:id="rId33"/>
    <p:sldId id="290" r:id="rId34"/>
    <p:sldId id="291" r:id="rId35"/>
  </p:sldIdLst>
  <p:sldSz cx="9144000" cy="5715000" type="screen16x10"/>
  <p:notesSz cx="57150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48" d="100"/>
          <a:sy n="148" d="100"/>
        </p:scale>
        <p:origin x="558" y="12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heme" Target="theme/theme1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presProps" Target="presProps.xml"/><Relationship Id="rId40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4114632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오늘은 Game Programming Patterns의 Command 장을 Unity/C# 수업으로 다룬다. 핵심 목표는 '버튼을 누르면 바로 함수 호출'이라는 구조를 '실행할 일을 객체로 만든다'는 구조로 바꾸는 것이다.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원문 출처는 Robert Nystrom의 Game Programming Patterns, Command 장이다. 슬라이드에는 원문을 그대로 길게 옮기지 않고 수업용 설명으로 재구성했다. 자세한 원문 흐름은 입력 설정, Actor 대상 분리, 큐/네트워크/리플레이, Undo/Redo, 함수형 대안, 관련 패턴 순서다.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원문 출처는 Robert Nystrom의 Game Programming Patterns, Command 장이다. 슬라이드에는 원문을 그대로 길게 옮기지 않고 수업용 설명으로 재구성했다. 자세한 원문 흐름은 입력 설정, Actor 대상 분리, 큐/네트워크/리플레이, Undo/Redo, 함수형 대안, 관련 패턴 순서다.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원문은 X/Y/A/B 버튼이 jump, fireGun, swapWeapon, lurchIneffectively를 직접 호출하는 코드에서 시작한다. 이 방식은 빠르지만 키 설정 변경, AI 재사용, 리플레이 저장, Undo 같은 요구가 들어오면 입력 코드가 여러 책임을 떠안는다.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원문의 핵심 표현은 reified method call이다. 즉, 실행할 메서드 호출을 데이터처럼 들고 다닐 수 있는 객체로 만든다는 뜻이다.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원문의 C++ 추상 클래스 Command를 C# 인터페이스로 바꾼 예시다. 단일 메서드 인터페이스가 보이면 Command 패턴의 가능성을 떠올릴 수 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원문에서 InputHandler가 buttonX_, buttonY_ 포인터를 들고 있던 구조를 C# 프로퍼티로 표현했다. 이제 키 설정 메뉴는 ButtonX에 다른 Command 객체를 넣으면 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원문은 Null Object를 함께 언급한다. 아무것도 하지 않음이 정상 행동이라면 null 대신 NullCommand를 넣어서 입력 루프를 단순하게 유지할 수 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 슬라이드는 원문의 컨트롤러 매핑 설명을 Unity 관점으로 시각화한 것이다.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원문의 Directions for Actors 절이다. 명령이 특정 플레이어 객체에 묶이면 여전히 결합이 남아 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원문에서는 Command::execute(GameActor&amp; actor)로 표현한다. Unity에서는 Actor가 MonoBehaviour일 수도 있고 순수 C# 모델일 수도 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원문은 handleInput()이 Command 포인터를 반환하고, 바깥 코드가 actor에게 실행한다. 이 작은 차이로 입력 생산자와 Actor 소비자가 분리된다.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원문은 AI 엔진이 Command를 내보내면 Actor 코드와 AI 선택 로직이 분리된다고 설명한다.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원문은 명령을 스트림으로 생각하라고 한다. 이 관점이 네트워크와 리플레이로 이어진다.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원문은 네트워크 멀티플레이와 리플레이에서 Command 스트림이 유용하다고 설명한다. 다만 실제 게임에서는 결정론 문제가 있어 단순 입력 로그만으로 항상 완벽히 재현되지는 않는다.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원문은 Command 패턴의 대표 사례로 Undo를 다룬다. 툴 제작과 에디터에서는 Undo가 사용자 경험의 핵심이다.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원문의 MoveUnitCommand는 특정 유닛과 목적지 좌표를 가진다. 이 명령은 재사용 버튼 명령이 아니라, 한 번 발생한 이동 사건이다.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원문은 xBefore_, yBefore_를 저장한다. 이동 명령은 위치만 바꾸므로 이전 위치만 기억하면 충분하다. 더 복잡한 명령은 더 많은 상태를 저장해야 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원문은 방향 입력마다 새 MoveUnitCommand를 만든다. C#에서는 Vector2Int로 목적지를 표현하면 자연스럽다.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대부분의 편집기와 동일하게, Undo 후 새 명령을 실행하면 오른쪽에 있던 Redo 후보는 삭제된다.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원문의 Undo/Redo 설명을 C# 리스트와 current 인덱스로 구현한 형태다.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학생들이 가장 자주 헷갈리는 부분은 Undo 후 새 행동을 했을 때 Redo가 사라지는 규칙이다.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원문은 Redo보다 Replay가 게임에서 더 흔할 수 있다고 한다. 리플레이는 게임 상태를 매 프레임 저장하는 대신 명령 스트림을 기록한다.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원문은 JavaScript 클로저 예시로 함수형 Command를 설명한다. C#도 델리게이트와 람다가 있으므로 작은 명령은 함수로 표현할 수 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단, ActionCommand는 상태 저장과 Undo에는 약하다. 실습처럼 히스토리가 필요한 경우에는 명시적 클래스를 사용한다.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모든 메서드를 Command로 만들 필요는 없다. 저장, 전달, 취소, 재실행 같은 요구가 있을 때 효과가 크다.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Unity에서는 씬 오브젝트 참조를 그대로 리플레이 로그에 저장하면 위험하다. 저장 가능성을 고려하면 ID와 데이터 중심 설계가 더 안전하다.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실습 프로젝트는 작은 2D 격자 이동 예제다. 학생은 TODO를 채우며 Command 객체와 히스토리를 연결한다.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 슬라이드는 실습 과제 명세다. 프로젝트는 학생이 TODO를 직접 채우는 스타터 상태다.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첫 단계는 MoveUnitCommand 완성이다.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두 번째 단계는 히스토리와 입력 연결이다.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패턴 수업이므로 단순히 작동하는 것보다 구조가 중요하다.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확장 과제는 원문의 입력 설정, Actor 분리, 리플레이, AI 응용으로 다시 이어진다.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수업 마지막에는 정의를 다시 반복한다. 학생이 패턴 이름보다 왜 객체로 만드는지를 기억하게 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1182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566928" y="658368"/>
            <a:ext cx="91440" cy="4160520"/>
          </a:xfrm>
          <a:prstGeom prst="rect">
            <a:avLst/>
          </a:prstGeom>
          <a:solidFill>
            <a:srgbClr val="14B8A6"/>
          </a:solidFill>
          <a:ln w="12700">
            <a:solidFill>
              <a:srgbClr val="14B8A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/>
          <p:cNvSpPr/>
          <p:nvPr/>
        </p:nvSpPr>
        <p:spPr>
          <a:xfrm>
            <a:off x="841248" y="713232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59E0B"/>
                </a:solidFill>
              </a:rPr>
              <a:t>2차시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804672" y="1133856"/>
            <a:ext cx="7589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</a:rPr>
              <a:t>Command Pattern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841248" y="1993392"/>
            <a:ext cx="7132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D6DEE8"/>
                </a:solidFill>
              </a:rPr>
              <a:t>함수 호출을 객체로 만들면 입력, AI, Undo, Replay가 분리된다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594360" y="2971800"/>
            <a:ext cx="1865376" cy="713232"/>
          </a:xfrm>
          <a:prstGeom prst="roundRect">
            <a:avLst>
              <a:gd name="adj" fmla="val 10256"/>
            </a:avLst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Text 6"/>
          <p:cNvSpPr/>
          <p:nvPr/>
        </p:nvSpPr>
        <p:spPr>
          <a:xfrm>
            <a:off x="667512" y="3182112"/>
            <a:ext cx="17190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Input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2487168" y="3182112"/>
            <a:ext cx="10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67085"/>
                </a:solidFill>
              </a:rPr>
              <a:t>→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2624328" y="2971800"/>
            <a:ext cx="1865376" cy="713232"/>
          </a:xfrm>
          <a:prstGeom prst="roundRect">
            <a:avLst>
              <a:gd name="adj" fmla="val 10256"/>
            </a:avLst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Text 9"/>
          <p:cNvSpPr/>
          <p:nvPr/>
        </p:nvSpPr>
        <p:spPr>
          <a:xfrm>
            <a:off x="2697480" y="3182112"/>
            <a:ext cx="17190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Command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517136" y="3182112"/>
            <a:ext cx="10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67085"/>
                </a:solidFill>
              </a:rPr>
              <a:t>→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654296" y="2971800"/>
            <a:ext cx="1865376" cy="713232"/>
          </a:xfrm>
          <a:prstGeom prst="roundRect">
            <a:avLst>
              <a:gd name="adj" fmla="val 10256"/>
            </a:avLst>
          </a:prstGeom>
          <a:solidFill>
            <a:srgbClr val="E45745"/>
          </a:solidFill>
          <a:ln w="12700">
            <a:solidFill>
              <a:srgbClr val="E4574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Text 12"/>
          <p:cNvSpPr/>
          <p:nvPr/>
        </p:nvSpPr>
        <p:spPr>
          <a:xfrm>
            <a:off x="4727448" y="3182112"/>
            <a:ext cx="17190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Actor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547104" y="3182112"/>
            <a:ext cx="10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67085"/>
                </a:solidFill>
              </a:rPr>
              <a:t>→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684264" y="2971800"/>
            <a:ext cx="1865376" cy="713232"/>
          </a:xfrm>
          <a:prstGeom prst="roundRect">
            <a:avLst>
              <a:gd name="adj" fmla="val 10256"/>
            </a:avLst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7" name="Text 15"/>
          <p:cNvSpPr/>
          <p:nvPr/>
        </p:nvSpPr>
        <p:spPr>
          <a:xfrm>
            <a:off x="6757416" y="3182112"/>
            <a:ext cx="17190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History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4892040"/>
            <a:ext cx="4389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AAB3C1"/>
                </a:solidFill>
              </a:rPr>
              <a:t>Game Programming Patterns · Unity/C#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FBF7EF"/>
          </a:solidFill>
          <a:ln w="12700">
            <a:solidFill>
              <a:srgbClr val="FBF7E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8016" cy="5715000"/>
          </a:xfrm>
          <a:prstGeom prst="rect">
            <a:avLst/>
          </a:prstGeom>
          <a:solidFill>
            <a:srgbClr val="E45745"/>
          </a:solidFill>
          <a:ln w="12700">
            <a:solidFill>
              <a:srgbClr val="E4574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/>
          <p:cNvSpPr/>
          <p:nvPr/>
        </p:nvSpPr>
        <p:spPr>
          <a:xfrm>
            <a:off x="8549640" y="5358384"/>
            <a:ext cx="320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A79F94"/>
                </a:solidFill>
              </a:rPr>
              <a:t>02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502920" y="329184"/>
            <a:ext cx="8138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500" b="1" dirty="0">
                <a:solidFill>
                  <a:srgbClr val="17212B"/>
                </a:solidFill>
              </a:rPr>
              <a:t>오늘의 학습 목표</a:t>
            </a:r>
            <a:endParaRPr lang="en-US" sz="2500" dirty="0"/>
          </a:p>
        </p:txBody>
      </p:sp>
      <p:sp>
        <p:nvSpPr>
          <p:cNvPr id="6" name="Text 4"/>
          <p:cNvSpPr/>
          <p:nvPr/>
        </p:nvSpPr>
        <p:spPr>
          <a:xfrm>
            <a:off x="521208" y="804672"/>
            <a:ext cx="7772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502920" y="5321808"/>
            <a:ext cx="5303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9A9187"/>
                </a:solidFill>
              </a:rPr>
              <a:t>Game Programming Patterns - Command | Unity/C# 수업용 재구성</a:t>
            </a:r>
            <a:endParaRPr lang="en-US" sz="700" dirty="0"/>
          </a:p>
        </p:txBody>
      </p:sp>
      <p:sp>
        <p:nvSpPr>
          <p:cNvPr id="8" name="Text 6"/>
          <p:cNvSpPr/>
          <p:nvPr/>
        </p:nvSpPr>
        <p:spPr>
          <a:xfrm>
            <a:off x="777240" y="1371600"/>
            <a:ext cx="7543800" cy="34747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r>
              <a:rPr lang="en-US" sz="2000" dirty="0">
                <a:solidFill>
                  <a:srgbClr val="17212B"/>
                </a:solidFill>
              </a:rPr>
              <a:t>Command Pattern을 '함수 호출을 객체로 만든 것'으로 설명한다.</a:t>
            </a:r>
            <a:endParaRPr lang="en-US" sz="2000" dirty="0"/>
          </a:p>
          <a:p>
            <a:r>
              <a:rPr lang="en-US" sz="2000" dirty="0">
                <a:solidFill>
                  <a:srgbClr val="17212B"/>
                </a:solidFill>
              </a:rPr>
              <a:t>입력, AI, 리플레이가 같은 명령 인터페이스를 쓰게 만든다.</a:t>
            </a:r>
            <a:endParaRPr lang="en-US" sz="2000" dirty="0"/>
          </a:p>
          <a:p>
            <a:r>
              <a:rPr lang="en-US" sz="2000" dirty="0">
                <a:solidFill>
                  <a:srgbClr val="17212B"/>
                </a:solidFill>
              </a:rPr>
              <a:t>Undo/Redo를 위해 명령이 바꾼 최소 상태를 저장한다.</a:t>
            </a:r>
            <a:endParaRPr lang="en-US" sz="2000" dirty="0"/>
          </a:p>
          <a:p>
            <a:r>
              <a:rPr lang="en-US" sz="2000" dirty="0">
                <a:solidFill>
                  <a:srgbClr val="17212B"/>
                </a:solidFill>
              </a:rPr>
              <a:t>Unity 실습에서 이동 명령과 히스토리를 직접 완성한다.</a:t>
            </a:r>
            <a:endParaRPr lang="en-US" sz="2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FBF7EF"/>
          </a:solidFill>
          <a:ln w="12700">
            <a:solidFill>
              <a:srgbClr val="FBF7E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8016" cy="571500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/>
          <p:cNvSpPr/>
          <p:nvPr/>
        </p:nvSpPr>
        <p:spPr>
          <a:xfrm>
            <a:off x="8549640" y="5358384"/>
            <a:ext cx="320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A79F94"/>
                </a:solidFill>
              </a:rPr>
              <a:t>03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502920" y="329184"/>
            <a:ext cx="8138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500" b="1" dirty="0">
                <a:solidFill>
                  <a:srgbClr val="17212B"/>
                </a:solidFill>
              </a:rPr>
              <a:t>원문 장의 전체 흐름</a:t>
            </a:r>
            <a:endParaRPr lang="en-US" sz="2500" dirty="0"/>
          </a:p>
        </p:txBody>
      </p:sp>
      <p:sp>
        <p:nvSpPr>
          <p:cNvPr id="6" name="Text 4"/>
          <p:cNvSpPr/>
          <p:nvPr/>
        </p:nvSpPr>
        <p:spPr>
          <a:xfrm>
            <a:off x="521208" y="804672"/>
            <a:ext cx="7772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502920" y="5321808"/>
            <a:ext cx="5303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9A9187"/>
                </a:solidFill>
              </a:rPr>
              <a:t>Game Programming Patterns - Command | Unity/C# 수업용 재구성</a:t>
            </a:r>
            <a:endParaRPr lang="en-US" sz="700" dirty="0"/>
          </a:p>
        </p:txBody>
      </p:sp>
      <p:sp>
        <p:nvSpPr>
          <p:cNvPr id="8" name="Text 6"/>
          <p:cNvSpPr/>
          <p:nvPr/>
        </p:nvSpPr>
        <p:spPr>
          <a:xfrm>
            <a:off x="777240" y="1371600"/>
            <a:ext cx="7543800" cy="34747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r>
              <a:rPr lang="en-US" sz="2000" dirty="0">
                <a:solidFill>
                  <a:srgbClr val="17212B"/>
                </a:solidFill>
              </a:rPr>
              <a:t>Configuring Input: 버튼과 행동을 직접 연결하지 않는다.</a:t>
            </a:r>
            <a:endParaRPr lang="en-US" sz="2000" dirty="0"/>
          </a:p>
          <a:p>
            <a:r>
              <a:rPr lang="en-US" sz="2000" dirty="0">
                <a:solidFill>
                  <a:srgbClr val="17212B"/>
                </a:solidFill>
              </a:rPr>
              <a:t>Directions for Actors: 명령은 특정 플레이어가 아니라 Actor에게 실행된다.</a:t>
            </a:r>
            <a:endParaRPr lang="en-US" sz="2000" dirty="0"/>
          </a:p>
          <a:p>
            <a:r>
              <a:rPr lang="en-US" sz="2000" dirty="0">
                <a:solidFill>
                  <a:srgbClr val="17212B"/>
                </a:solidFill>
              </a:rPr>
              <a:t>Command Stream: 큐, 네트워크, 리플레이로 확장된다.</a:t>
            </a:r>
            <a:endParaRPr lang="en-US" sz="2000" dirty="0"/>
          </a:p>
          <a:p>
            <a:r>
              <a:rPr lang="en-US" sz="2000" dirty="0">
                <a:solidFill>
                  <a:srgbClr val="17212B"/>
                </a:solidFill>
              </a:rPr>
              <a:t>Undo and Redo: 실행한 명령이 되돌릴 방법을 안다.</a:t>
            </a:r>
            <a:endParaRPr lang="en-US" sz="2000" dirty="0"/>
          </a:p>
          <a:p>
            <a:r>
              <a:rPr lang="en-US" sz="2000" dirty="0">
                <a:solidFill>
                  <a:srgbClr val="17212B"/>
                </a:solidFill>
              </a:rPr>
              <a:t>Classy and Dysfunctional: 클래스 대신 함수/클로저로도 표현할 수 있다.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FBF7EF"/>
          </a:solidFill>
          <a:ln w="12700">
            <a:solidFill>
              <a:srgbClr val="FBF7E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8016" cy="571500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/>
          <p:cNvSpPr/>
          <p:nvPr/>
        </p:nvSpPr>
        <p:spPr>
          <a:xfrm>
            <a:off x="8549640" y="5358384"/>
            <a:ext cx="320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A79F94"/>
                </a:solidFill>
              </a:rPr>
              <a:t>04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502920" y="329184"/>
            <a:ext cx="8138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500" b="1" dirty="0">
                <a:solidFill>
                  <a:srgbClr val="17212B"/>
                </a:solidFill>
              </a:rPr>
              <a:t>문제 코드: 입력이 행동을 직접 호출한다</a:t>
            </a:r>
            <a:endParaRPr lang="en-US" sz="2500" dirty="0"/>
          </a:p>
        </p:txBody>
      </p:sp>
      <p:sp>
        <p:nvSpPr>
          <p:cNvPr id="6" name="Text 4"/>
          <p:cNvSpPr/>
          <p:nvPr/>
        </p:nvSpPr>
        <p:spPr>
          <a:xfrm>
            <a:off x="521208" y="804672"/>
            <a:ext cx="7772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502920" y="5321808"/>
            <a:ext cx="5303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9A9187"/>
                </a:solidFill>
              </a:rPr>
              <a:t>Game Programming Patterns - Command | Unity/C# 수업용 재구성</a:t>
            </a:r>
            <a:endParaRPr lang="en-US" sz="700" dirty="0"/>
          </a:p>
        </p:txBody>
      </p:sp>
      <p:sp>
        <p:nvSpPr>
          <p:cNvPr id="8" name="Text 6"/>
          <p:cNvSpPr/>
          <p:nvPr/>
        </p:nvSpPr>
        <p:spPr>
          <a:xfrm>
            <a:off x="658368" y="1133856"/>
            <a:ext cx="7680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600" b="1" dirty="0">
                <a:solidFill>
                  <a:srgbClr val="0F766E"/>
                </a:solidFill>
              </a:rPr>
              <a:t>버튼과 행동이 코드 안에서 고정되어 있다.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658368" y="1600200"/>
            <a:ext cx="8092440" cy="3401568"/>
          </a:xfrm>
          <a:prstGeom prst="roundRect">
            <a:avLst>
              <a:gd name="adj" fmla="val 2151"/>
            </a:avLst>
          </a:prstGeom>
          <a:solidFill>
            <a:srgbClr val="101827"/>
          </a:solidFill>
          <a:ln w="12700">
            <a:solidFill>
              <a:srgbClr val="2A344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Text 8"/>
          <p:cNvSpPr/>
          <p:nvPr/>
        </p:nvSpPr>
        <p:spPr>
          <a:xfrm>
            <a:off x="859536" y="1764792"/>
            <a:ext cx="7690104" cy="30723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buNone/>
            </a:pPr>
            <a:r>
              <a:rPr lang="en-US" sz="122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void Update()</a:t>
            </a:r>
            <a:endParaRPr lang="en-US" sz="1220" dirty="0"/>
          </a:p>
          <a:p>
            <a:pPr marL="0" indent="0">
              <a:buNone/>
            </a:pPr>
            <a:r>
              <a:rPr lang="en-US" sz="122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220" dirty="0"/>
          </a:p>
          <a:p>
            <a:pPr marL="0" indent="0">
              <a:buNone/>
            </a:pPr>
            <a:r>
              <a:rPr lang="en-US" sz="122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(Input.GetKeyDown(KeyCode.X)) Jump();</a:t>
            </a:r>
            <a:endParaRPr lang="en-US" sz="1220" dirty="0"/>
          </a:p>
          <a:p>
            <a:pPr marL="0" indent="0">
              <a:buNone/>
            </a:pPr>
            <a:r>
              <a:rPr lang="en-US" sz="122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else if (Input.GetKeyDown(KeyCode.Y)) FireGun();</a:t>
            </a:r>
            <a:endParaRPr lang="en-US" sz="1220" dirty="0"/>
          </a:p>
          <a:p>
            <a:pPr marL="0" indent="0">
              <a:buNone/>
            </a:pPr>
            <a:r>
              <a:rPr lang="en-US" sz="122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else if (Input.GetKeyDown(KeyCode.A)) SwapWeapon();</a:t>
            </a:r>
            <a:endParaRPr lang="en-US" sz="1220" dirty="0"/>
          </a:p>
          <a:p>
            <a:pPr marL="0" indent="0">
              <a:buNone/>
            </a:pPr>
            <a:r>
              <a:rPr lang="en-US" sz="122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else if (Input.GetKeyDown(KeyCode.B)) LurchIneffectively();</a:t>
            </a:r>
            <a:endParaRPr lang="en-US" sz="1220" dirty="0"/>
          </a:p>
          <a:p>
            <a:pPr marL="0" indent="0">
              <a:buNone/>
            </a:pPr>
            <a:r>
              <a:rPr lang="en-US" sz="122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22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FBF7EF"/>
          </a:solidFill>
          <a:ln w="12700">
            <a:solidFill>
              <a:srgbClr val="FBF7E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8016" cy="571500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/>
          <p:cNvSpPr/>
          <p:nvPr/>
        </p:nvSpPr>
        <p:spPr>
          <a:xfrm>
            <a:off x="8549640" y="5358384"/>
            <a:ext cx="320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A79F94"/>
                </a:solidFill>
              </a:rPr>
              <a:t>05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502920" y="329184"/>
            <a:ext cx="8138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500" b="1" dirty="0">
                <a:solidFill>
                  <a:srgbClr val="17212B"/>
                </a:solidFill>
              </a:rPr>
              <a:t>Command의 핵심 정의</a:t>
            </a:r>
            <a:endParaRPr lang="en-US" sz="2500" dirty="0"/>
          </a:p>
        </p:txBody>
      </p:sp>
      <p:sp>
        <p:nvSpPr>
          <p:cNvPr id="6" name="Text 4"/>
          <p:cNvSpPr/>
          <p:nvPr/>
        </p:nvSpPr>
        <p:spPr>
          <a:xfrm>
            <a:off x="502920" y="5321808"/>
            <a:ext cx="5303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9A9187"/>
                </a:solidFill>
              </a:rPr>
              <a:t>Game Programming Patterns - Command | Unity/C# 수업용 재구성</a:t>
            </a:r>
            <a:endParaRPr lang="en-US" sz="700" dirty="0"/>
          </a:p>
        </p:txBody>
      </p:sp>
      <p:sp>
        <p:nvSpPr>
          <p:cNvPr id="7" name="Text 5"/>
          <p:cNvSpPr/>
          <p:nvPr/>
        </p:nvSpPr>
        <p:spPr>
          <a:xfrm>
            <a:off x="685800" y="1417320"/>
            <a:ext cx="7680960" cy="10515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3000" b="1" dirty="0">
                <a:solidFill>
                  <a:srgbClr val="0F766E"/>
                </a:solidFill>
              </a:rPr>
              <a:t>Command = 함수 호출을 객체로 만든 것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822960" y="2788920"/>
            <a:ext cx="7452360" cy="17830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r>
              <a:rPr lang="en-US" sz="1900" dirty="0">
                <a:solidFill>
                  <a:srgbClr val="17212B"/>
                </a:solidFill>
              </a:rPr>
              <a:t>객체가 되면 변수에 저장하고, 큐에 넣고, 나중에 실행할 수 있다.</a:t>
            </a:r>
            <a:endParaRPr lang="en-US" sz="1900" dirty="0"/>
          </a:p>
          <a:p>
            <a:r>
              <a:rPr lang="en-US" sz="1900" dirty="0">
                <a:solidFill>
                  <a:srgbClr val="17212B"/>
                </a:solidFill>
              </a:rPr>
              <a:t>입력 시스템은 '무슨 행동인지'보다 '어떤 Command인지'만 알면 된다.</a:t>
            </a:r>
            <a:endParaRPr lang="en-US" sz="1900" dirty="0"/>
          </a:p>
          <a:p>
            <a:r>
              <a:rPr lang="en-US" sz="1900" dirty="0">
                <a:solidFill>
                  <a:srgbClr val="17212B"/>
                </a:solidFill>
              </a:rPr>
              <a:t>게임에서는 입력, AI, 네트워크, 툴 UI 사이의 공통 언어가 된다.</a:t>
            </a:r>
            <a:endParaRPr lang="en-US" sz="1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FBF7EF"/>
          </a:solidFill>
          <a:ln w="12700">
            <a:solidFill>
              <a:srgbClr val="FBF7E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8016" cy="5715000"/>
          </a:xfrm>
          <a:prstGeom prst="rect">
            <a:avLst/>
          </a:prstGeom>
          <a:solidFill>
            <a:srgbClr val="E45745"/>
          </a:solidFill>
          <a:ln w="12700">
            <a:solidFill>
              <a:srgbClr val="E4574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/>
          <p:cNvSpPr/>
          <p:nvPr/>
        </p:nvSpPr>
        <p:spPr>
          <a:xfrm>
            <a:off x="8549640" y="5358384"/>
            <a:ext cx="320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A79F94"/>
                </a:solidFill>
              </a:rPr>
              <a:t>06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502920" y="329184"/>
            <a:ext cx="8138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500" b="1" dirty="0">
                <a:solidFill>
                  <a:srgbClr val="17212B"/>
                </a:solidFill>
              </a:rPr>
              <a:t>가장 작은 C# Command</a:t>
            </a:r>
            <a:endParaRPr lang="en-US" sz="2500" dirty="0"/>
          </a:p>
        </p:txBody>
      </p:sp>
      <p:sp>
        <p:nvSpPr>
          <p:cNvPr id="6" name="Text 4"/>
          <p:cNvSpPr/>
          <p:nvPr/>
        </p:nvSpPr>
        <p:spPr>
          <a:xfrm>
            <a:off x="521208" y="804672"/>
            <a:ext cx="7772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502920" y="5321808"/>
            <a:ext cx="5303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9A9187"/>
                </a:solidFill>
              </a:rPr>
              <a:t>Game Programming Patterns - Command | Unity/C# 수업용 재구성</a:t>
            </a:r>
            <a:endParaRPr lang="en-US" sz="700" dirty="0"/>
          </a:p>
        </p:txBody>
      </p:sp>
      <p:sp>
        <p:nvSpPr>
          <p:cNvPr id="8" name="Text 6"/>
          <p:cNvSpPr/>
          <p:nvPr/>
        </p:nvSpPr>
        <p:spPr>
          <a:xfrm>
            <a:off x="658368" y="1133856"/>
            <a:ext cx="7680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600" b="1" dirty="0">
                <a:solidFill>
                  <a:srgbClr val="0F766E"/>
                </a:solidFill>
              </a:rPr>
              <a:t>처음에는 인터페이스 하나면 충분하다.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658368" y="1600200"/>
            <a:ext cx="8092440" cy="3401568"/>
          </a:xfrm>
          <a:prstGeom prst="roundRect">
            <a:avLst>
              <a:gd name="adj" fmla="val 2151"/>
            </a:avLst>
          </a:prstGeom>
          <a:solidFill>
            <a:srgbClr val="101827"/>
          </a:solidFill>
          <a:ln w="12700">
            <a:solidFill>
              <a:srgbClr val="2A344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Text 8"/>
          <p:cNvSpPr/>
          <p:nvPr/>
        </p:nvSpPr>
        <p:spPr>
          <a:xfrm>
            <a:off x="859536" y="1764792"/>
            <a:ext cx="7690104" cy="30723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buNone/>
            </a:pPr>
            <a:r>
              <a:rPr lang="en-US" sz="122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public interface ICommand</a:t>
            </a:r>
            <a:endParaRPr lang="en-US" sz="1220" dirty="0"/>
          </a:p>
          <a:p>
            <a:pPr marL="0" indent="0">
              <a:buNone/>
            </a:pPr>
            <a:r>
              <a:rPr lang="en-US" sz="122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220" dirty="0"/>
          </a:p>
          <a:p>
            <a:pPr marL="0" indent="0">
              <a:buNone/>
            </a:pPr>
            <a:r>
              <a:rPr lang="en-US" sz="122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void Execute();</a:t>
            </a:r>
            <a:endParaRPr lang="en-US" sz="1220" dirty="0"/>
          </a:p>
          <a:p>
            <a:pPr marL="0" indent="0">
              <a:buNone/>
            </a:pPr>
            <a:r>
              <a:rPr lang="en-US" sz="122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220" dirty="0"/>
          </a:p>
          <a:p>
            <a:pPr marL="0" indent="0">
              <a:buNone/>
            </a:pPr>
            <a:endParaRPr lang="en-US" sz="1220" dirty="0"/>
          </a:p>
          <a:p>
            <a:pPr marL="0" indent="0">
              <a:buNone/>
            </a:pPr>
            <a:r>
              <a:rPr lang="en-US" sz="122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public sealed class JumpCommand : ICommand</a:t>
            </a:r>
            <a:endParaRPr lang="en-US" sz="1220" dirty="0"/>
          </a:p>
          <a:p>
            <a:pPr marL="0" indent="0">
              <a:buNone/>
            </a:pPr>
            <a:r>
              <a:rPr lang="en-US" sz="122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220" dirty="0"/>
          </a:p>
          <a:p>
            <a:pPr marL="0" indent="0">
              <a:buNone/>
            </a:pPr>
            <a:r>
              <a:rPr lang="en-US" sz="122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public void Execute()</a:t>
            </a:r>
            <a:endParaRPr lang="en-US" sz="1220" dirty="0"/>
          </a:p>
          <a:p>
            <a:pPr marL="0" indent="0">
              <a:buNone/>
            </a:pPr>
            <a:r>
              <a:rPr lang="en-US" sz="122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{</a:t>
            </a:r>
            <a:endParaRPr lang="en-US" sz="1220" dirty="0"/>
          </a:p>
          <a:p>
            <a:pPr marL="0" indent="0">
              <a:buNone/>
            </a:pPr>
            <a:r>
              <a:rPr lang="en-US" sz="122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PlayerActions.Jump();</a:t>
            </a:r>
            <a:endParaRPr lang="en-US" sz="1220" dirty="0"/>
          </a:p>
          <a:p>
            <a:pPr marL="0" indent="0">
              <a:buNone/>
            </a:pPr>
            <a:r>
              <a:rPr lang="en-US" sz="122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}</a:t>
            </a:r>
            <a:endParaRPr lang="en-US" sz="1220" dirty="0"/>
          </a:p>
          <a:p>
            <a:pPr marL="0" indent="0">
              <a:buNone/>
            </a:pPr>
            <a:r>
              <a:rPr lang="en-US" sz="122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22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FBF7EF"/>
          </a:solidFill>
          <a:ln w="12700">
            <a:solidFill>
              <a:srgbClr val="FBF7E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8016" cy="571500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/>
          <p:cNvSpPr/>
          <p:nvPr/>
        </p:nvSpPr>
        <p:spPr>
          <a:xfrm>
            <a:off x="8549640" y="5358384"/>
            <a:ext cx="320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A79F94"/>
                </a:solidFill>
              </a:rPr>
              <a:t>07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502920" y="329184"/>
            <a:ext cx="8138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500" b="1" dirty="0">
                <a:solidFill>
                  <a:srgbClr val="17212B"/>
                </a:solidFill>
              </a:rPr>
              <a:t>입력 핸들러는 Command를 보관한다</a:t>
            </a:r>
            <a:endParaRPr lang="en-US" sz="2500" dirty="0"/>
          </a:p>
        </p:txBody>
      </p:sp>
      <p:sp>
        <p:nvSpPr>
          <p:cNvPr id="6" name="Text 4"/>
          <p:cNvSpPr/>
          <p:nvPr/>
        </p:nvSpPr>
        <p:spPr>
          <a:xfrm>
            <a:off x="521208" y="804672"/>
            <a:ext cx="7772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502920" y="5321808"/>
            <a:ext cx="5303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9A9187"/>
                </a:solidFill>
              </a:rPr>
              <a:t>Game Programming Patterns - Command | Unity/C# 수업용 재구성</a:t>
            </a:r>
            <a:endParaRPr lang="en-US" sz="700" dirty="0"/>
          </a:p>
        </p:txBody>
      </p:sp>
      <p:sp>
        <p:nvSpPr>
          <p:cNvPr id="8" name="Text 6"/>
          <p:cNvSpPr/>
          <p:nvPr/>
        </p:nvSpPr>
        <p:spPr>
          <a:xfrm>
            <a:off x="658368" y="1133856"/>
            <a:ext cx="7680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600" b="1" dirty="0">
                <a:solidFill>
                  <a:srgbClr val="0F766E"/>
                </a:solidFill>
              </a:rPr>
              <a:t>입력 코드는 구체 행동을 모른다.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658368" y="1600200"/>
            <a:ext cx="8092440" cy="3401568"/>
          </a:xfrm>
          <a:prstGeom prst="roundRect">
            <a:avLst>
              <a:gd name="adj" fmla="val 2151"/>
            </a:avLst>
          </a:prstGeom>
          <a:solidFill>
            <a:srgbClr val="101827"/>
          </a:solidFill>
          <a:ln w="12700">
            <a:solidFill>
              <a:srgbClr val="2A344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Text 8"/>
          <p:cNvSpPr/>
          <p:nvPr/>
        </p:nvSpPr>
        <p:spPr>
          <a:xfrm>
            <a:off x="859536" y="1764792"/>
            <a:ext cx="7690104" cy="30723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buNone/>
            </a:pPr>
            <a:r>
              <a:rPr lang="en-US" sz="122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public sealed class InputHandler : MonoBehaviour</a:t>
            </a:r>
            <a:endParaRPr lang="en-US" sz="1220" dirty="0"/>
          </a:p>
          <a:p>
            <a:pPr marL="0" indent="0">
              <a:buNone/>
            </a:pPr>
            <a:r>
              <a:rPr lang="en-US" sz="122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220" dirty="0"/>
          </a:p>
          <a:p>
            <a:pPr marL="0" indent="0">
              <a:buNone/>
            </a:pPr>
            <a:r>
              <a:rPr lang="en-US" sz="122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public ICommand ButtonX { get; set; }</a:t>
            </a:r>
            <a:endParaRPr lang="en-US" sz="1220" dirty="0"/>
          </a:p>
          <a:p>
            <a:pPr marL="0" indent="0">
              <a:buNone/>
            </a:pPr>
            <a:r>
              <a:rPr lang="en-US" sz="122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public ICommand ButtonY { get; set; }</a:t>
            </a:r>
            <a:endParaRPr lang="en-US" sz="1220" dirty="0"/>
          </a:p>
          <a:p>
            <a:pPr marL="0" indent="0">
              <a:buNone/>
            </a:pPr>
            <a:endParaRPr lang="en-US" sz="1220" dirty="0"/>
          </a:p>
          <a:p>
            <a:pPr marL="0" indent="0">
              <a:buNone/>
            </a:pPr>
            <a:r>
              <a:rPr lang="en-US" sz="122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void Update()</a:t>
            </a:r>
            <a:endParaRPr lang="en-US" sz="1220" dirty="0"/>
          </a:p>
          <a:p>
            <a:pPr marL="0" indent="0">
              <a:buNone/>
            </a:pPr>
            <a:r>
              <a:rPr lang="en-US" sz="122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{</a:t>
            </a:r>
            <a:endParaRPr lang="en-US" sz="1220" dirty="0"/>
          </a:p>
          <a:p>
            <a:pPr marL="0" indent="0">
              <a:buNone/>
            </a:pPr>
            <a:r>
              <a:rPr lang="en-US" sz="122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if (Input.GetKeyDown(KeyCode.X)) ButtonX.Execute();</a:t>
            </a:r>
            <a:endParaRPr lang="en-US" sz="1220" dirty="0"/>
          </a:p>
          <a:p>
            <a:pPr marL="0" indent="0">
              <a:buNone/>
            </a:pPr>
            <a:r>
              <a:rPr lang="en-US" sz="122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if (Input.GetKeyDown(KeyCode.Y)) ButtonY.Execute();</a:t>
            </a:r>
            <a:endParaRPr lang="en-US" sz="1220" dirty="0"/>
          </a:p>
          <a:p>
            <a:pPr marL="0" indent="0">
              <a:buNone/>
            </a:pPr>
            <a:r>
              <a:rPr lang="en-US" sz="122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}</a:t>
            </a:r>
            <a:endParaRPr lang="en-US" sz="1220" dirty="0"/>
          </a:p>
          <a:p>
            <a:pPr marL="0" indent="0">
              <a:buNone/>
            </a:pPr>
            <a:r>
              <a:rPr lang="en-US" sz="122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22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FBF7EF"/>
          </a:solidFill>
          <a:ln w="12700">
            <a:solidFill>
              <a:srgbClr val="FBF7E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8016" cy="571500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/>
          <p:cNvSpPr/>
          <p:nvPr/>
        </p:nvSpPr>
        <p:spPr>
          <a:xfrm>
            <a:off x="8549640" y="5358384"/>
            <a:ext cx="320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A79F94"/>
                </a:solidFill>
              </a:rPr>
              <a:t>08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502920" y="329184"/>
            <a:ext cx="8138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500" b="1" dirty="0">
                <a:solidFill>
                  <a:srgbClr val="17212B"/>
                </a:solidFill>
              </a:rPr>
              <a:t>Null Object: 아무것도 안 하는 명령</a:t>
            </a:r>
            <a:endParaRPr lang="en-US" sz="2500" dirty="0"/>
          </a:p>
        </p:txBody>
      </p:sp>
      <p:sp>
        <p:nvSpPr>
          <p:cNvPr id="6" name="Text 4"/>
          <p:cNvSpPr/>
          <p:nvPr/>
        </p:nvSpPr>
        <p:spPr>
          <a:xfrm>
            <a:off x="521208" y="804672"/>
            <a:ext cx="7772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502920" y="5321808"/>
            <a:ext cx="5303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9A9187"/>
                </a:solidFill>
              </a:rPr>
              <a:t>Game Programming Patterns - Command | Unity/C# 수업용 재구성</a:t>
            </a:r>
            <a:endParaRPr lang="en-US" sz="700" dirty="0"/>
          </a:p>
        </p:txBody>
      </p:sp>
      <p:sp>
        <p:nvSpPr>
          <p:cNvPr id="8" name="Text 6"/>
          <p:cNvSpPr/>
          <p:nvPr/>
        </p:nvSpPr>
        <p:spPr>
          <a:xfrm>
            <a:off x="658368" y="1133856"/>
            <a:ext cx="7680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600" b="1" dirty="0">
                <a:solidFill>
                  <a:srgbClr val="0F766E"/>
                </a:solidFill>
              </a:rPr>
              <a:t>버튼은 있지만 아직 기능이 없을 수 있다.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658368" y="1600200"/>
            <a:ext cx="8092440" cy="3401568"/>
          </a:xfrm>
          <a:prstGeom prst="roundRect">
            <a:avLst>
              <a:gd name="adj" fmla="val 2151"/>
            </a:avLst>
          </a:prstGeom>
          <a:solidFill>
            <a:srgbClr val="101827"/>
          </a:solidFill>
          <a:ln w="12700">
            <a:solidFill>
              <a:srgbClr val="2A344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Text 8"/>
          <p:cNvSpPr/>
          <p:nvPr/>
        </p:nvSpPr>
        <p:spPr>
          <a:xfrm>
            <a:off x="859536" y="1764792"/>
            <a:ext cx="7690104" cy="30723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buNone/>
            </a:pPr>
            <a:r>
              <a:rPr lang="en-US" sz="122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public sealed class NullCommand : ICommand</a:t>
            </a:r>
            <a:endParaRPr lang="en-US" sz="1220" dirty="0"/>
          </a:p>
          <a:p>
            <a:pPr marL="0" indent="0">
              <a:buNone/>
            </a:pPr>
            <a:r>
              <a:rPr lang="en-US" sz="122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220" dirty="0"/>
          </a:p>
          <a:p>
            <a:pPr marL="0" indent="0">
              <a:buNone/>
            </a:pPr>
            <a:r>
              <a:rPr lang="en-US" sz="122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public void Execute()</a:t>
            </a:r>
            <a:endParaRPr lang="en-US" sz="1220" dirty="0"/>
          </a:p>
          <a:p>
            <a:pPr marL="0" indent="0">
              <a:buNone/>
            </a:pPr>
            <a:r>
              <a:rPr lang="en-US" sz="122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{</a:t>
            </a:r>
            <a:endParaRPr lang="en-US" sz="1220" dirty="0"/>
          </a:p>
          <a:p>
            <a:pPr marL="0" indent="0">
              <a:buNone/>
            </a:pPr>
            <a:r>
              <a:rPr lang="en-US" sz="122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// Intentionally empty.</a:t>
            </a:r>
            <a:endParaRPr lang="en-US" sz="1220" dirty="0"/>
          </a:p>
          <a:p>
            <a:pPr marL="0" indent="0">
              <a:buNone/>
            </a:pPr>
            <a:r>
              <a:rPr lang="en-US" sz="122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}</a:t>
            </a:r>
            <a:endParaRPr lang="en-US" sz="1220" dirty="0"/>
          </a:p>
          <a:p>
            <a:pPr marL="0" indent="0">
              <a:buNone/>
            </a:pPr>
            <a:r>
              <a:rPr lang="en-US" sz="122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220" dirty="0"/>
          </a:p>
          <a:p>
            <a:pPr marL="0" indent="0">
              <a:buNone/>
            </a:pPr>
            <a:endParaRPr lang="en-US" sz="1220" dirty="0"/>
          </a:p>
          <a:p>
            <a:pPr marL="0" indent="0">
              <a:buNone/>
            </a:pPr>
            <a:r>
              <a:rPr lang="en-US" sz="122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handler.ButtonB = new NullCommand();</a:t>
            </a:r>
            <a:endParaRPr lang="en-US" sz="122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FBF7EF"/>
          </a:solidFill>
          <a:ln w="12700">
            <a:solidFill>
              <a:srgbClr val="FBF7E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8016" cy="571500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/>
          <p:cNvSpPr/>
          <p:nvPr/>
        </p:nvSpPr>
        <p:spPr>
          <a:xfrm>
            <a:off x="8549640" y="5358384"/>
            <a:ext cx="320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A79F94"/>
                </a:solidFill>
              </a:rPr>
              <a:t>09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502920" y="329184"/>
            <a:ext cx="8138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500" b="1" dirty="0">
                <a:solidFill>
                  <a:srgbClr val="17212B"/>
                </a:solidFill>
              </a:rPr>
              <a:t>입력 매핑의 변화</a:t>
            </a:r>
            <a:endParaRPr lang="en-US" sz="2500" dirty="0"/>
          </a:p>
        </p:txBody>
      </p:sp>
      <p:sp>
        <p:nvSpPr>
          <p:cNvPr id="6" name="Text 4"/>
          <p:cNvSpPr/>
          <p:nvPr/>
        </p:nvSpPr>
        <p:spPr>
          <a:xfrm>
            <a:off x="521208" y="804672"/>
            <a:ext cx="7772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50" dirty="0">
                <a:solidFill>
                  <a:srgbClr val="667085"/>
                </a:solidFill>
              </a:rPr>
              <a:t>직접 호출에서 객체 교체로 바뀐다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502920" y="5321808"/>
            <a:ext cx="5303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9A9187"/>
                </a:solidFill>
              </a:rPr>
              <a:t>Game Programming Patterns - Command | Unity/C# 수업용 재구성</a:t>
            </a:r>
            <a:endParaRPr lang="en-US" sz="700" dirty="0"/>
          </a:p>
        </p:txBody>
      </p:sp>
      <p:sp>
        <p:nvSpPr>
          <p:cNvPr id="8" name="Text 6"/>
          <p:cNvSpPr/>
          <p:nvPr/>
        </p:nvSpPr>
        <p:spPr>
          <a:xfrm>
            <a:off x="713232" y="1325880"/>
            <a:ext cx="7589520" cy="6217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900" b="1" dirty="0">
                <a:solidFill>
                  <a:srgbClr val="17212B"/>
                </a:solidFill>
              </a:rPr>
              <a:t>함수 호출을 객체로 만들면 버튼 설정을 런타임에 바꿀 수 있다.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594360" y="2331720"/>
            <a:ext cx="1865376" cy="713232"/>
          </a:xfrm>
          <a:prstGeom prst="roundRect">
            <a:avLst>
              <a:gd name="adj" fmla="val 10256"/>
            </a:avLst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Text 8"/>
          <p:cNvSpPr/>
          <p:nvPr/>
        </p:nvSpPr>
        <p:spPr>
          <a:xfrm>
            <a:off x="667512" y="2542032"/>
            <a:ext cx="17190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Button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2487168" y="2542032"/>
            <a:ext cx="10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67085"/>
                </a:solidFill>
              </a:rPr>
              <a:t>→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2624328" y="2331720"/>
            <a:ext cx="1865376" cy="713232"/>
          </a:xfrm>
          <a:prstGeom prst="roundRect">
            <a:avLst>
              <a:gd name="adj" fmla="val 10256"/>
            </a:avLst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1"/>
          <p:cNvSpPr/>
          <p:nvPr/>
        </p:nvSpPr>
        <p:spPr>
          <a:xfrm>
            <a:off x="2697480" y="2542032"/>
            <a:ext cx="17190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Command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517136" y="2542032"/>
            <a:ext cx="10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67085"/>
                </a:solidFill>
              </a:rPr>
              <a:t>→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4654296" y="2331720"/>
            <a:ext cx="1865376" cy="713232"/>
          </a:xfrm>
          <a:prstGeom prst="roundRect">
            <a:avLst>
              <a:gd name="adj" fmla="val 10256"/>
            </a:avLst>
          </a:prstGeom>
          <a:solidFill>
            <a:srgbClr val="E45745"/>
          </a:solidFill>
          <a:ln w="12700">
            <a:solidFill>
              <a:srgbClr val="E4574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6" name="Text 14"/>
          <p:cNvSpPr/>
          <p:nvPr/>
        </p:nvSpPr>
        <p:spPr>
          <a:xfrm>
            <a:off x="4727448" y="2542032"/>
            <a:ext cx="17190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Execute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547104" y="2542032"/>
            <a:ext cx="10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67085"/>
                </a:solidFill>
              </a:rPr>
              <a:t>→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6684264" y="2331720"/>
            <a:ext cx="1865376" cy="713232"/>
          </a:xfrm>
          <a:prstGeom prst="roundRect">
            <a:avLst>
              <a:gd name="adj" fmla="val 10256"/>
            </a:avLst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" name="Text 17"/>
          <p:cNvSpPr/>
          <p:nvPr/>
        </p:nvSpPr>
        <p:spPr>
          <a:xfrm>
            <a:off x="6757416" y="2542032"/>
            <a:ext cx="17190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Action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822960" y="3474720"/>
            <a:ext cx="7406640" cy="12344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r>
              <a:rPr lang="en-US" sz="1650" dirty="0">
                <a:solidFill>
                  <a:srgbClr val="17212B"/>
                </a:solidFill>
              </a:rPr>
              <a:t>사용자 키 설정, 패드/키보드 동시 지원, 튜토리얼용 입력 잠금에 유리하다.</a:t>
            </a:r>
            <a:endParaRPr lang="en-US" sz="1650" dirty="0"/>
          </a:p>
          <a:p>
            <a:r>
              <a:rPr lang="en-US" sz="1650" dirty="0">
                <a:solidFill>
                  <a:srgbClr val="17212B"/>
                </a:solidFill>
              </a:rPr>
              <a:t>입력 시스템은 게임 행동의 세부 구현을 몰라도 된다.</a:t>
            </a:r>
            <a:endParaRPr lang="en-US" sz="16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FBF7EF"/>
          </a:solidFill>
          <a:ln w="12700">
            <a:solidFill>
              <a:srgbClr val="FBF7E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8016" cy="5715000"/>
          </a:xfrm>
          <a:prstGeom prst="rect">
            <a:avLst/>
          </a:prstGeom>
          <a:solidFill>
            <a:srgbClr val="E45745"/>
          </a:solidFill>
          <a:ln w="12700">
            <a:solidFill>
              <a:srgbClr val="E4574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/>
          <p:cNvSpPr/>
          <p:nvPr/>
        </p:nvSpPr>
        <p:spPr>
          <a:xfrm>
            <a:off x="8549640" y="5358384"/>
            <a:ext cx="320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A79F94"/>
                </a:solidFill>
              </a:rPr>
              <a:t>10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502920" y="329184"/>
            <a:ext cx="8138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500" b="1" dirty="0">
                <a:solidFill>
                  <a:srgbClr val="17212B"/>
                </a:solidFill>
              </a:rPr>
              <a:t>첫 번째 버전의 한계</a:t>
            </a:r>
            <a:endParaRPr lang="en-US" sz="2500" dirty="0"/>
          </a:p>
        </p:txBody>
      </p:sp>
      <p:sp>
        <p:nvSpPr>
          <p:cNvPr id="6" name="Text 4"/>
          <p:cNvSpPr/>
          <p:nvPr/>
        </p:nvSpPr>
        <p:spPr>
          <a:xfrm>
            <a:off x="521208" y="804672"/>
            <a:ext cx="7772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50" dirty="0">
                <a:solidFill>
                  <a:srgbClr val="667085"/>
                </a:solidFill>
              </a:rPr>
              <a:t>Command가 플레이어에게 너무 묶여 있다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502920" y="5321808"/>
            <a:ext cx="5303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9A9187"/>
                </a:solidFill>
              </a:rPr>
              <a:t>Game Programming Patterns - Command | Unity/C# 수업용 재구성</a:t>
            </a:r>
            <a:endParaRPr lang="en-US" sz="700" dirty="0"/>
          </a:p>
        </p:txBody>
      </p:sp>
      <p:sp>
        <p:nvSpPr>
          <p:cNvPr id="8" name="Text 6"/>
          <p:cNvSpPr/>
          <p:nvPr/>
        </p:nvSpPr>
        <p:spPr>
          <a:xfrm>
            <a:off x="713232" y="1325880"/>
            <a:ext cx="3474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E45745"/>
                </a:solidFill>
              </a:rPr>
              <a:t>문제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758952" y="1874520"/>
            <a:ext cx="3520440" cy="28803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r>
              <a:rPr lang="en-US" sz="1750" dirty="0">
                <a:solidFill>
                  <a:srgbClr val="17212B"/>
                </a:solidFill>
              </a:rPr>
              <a:t>JumpCommand가 PlayerActions.Jump()를 직접 호출한다.</a:t>
            </a:r>
            <a:endParaRPr lang="en-US" sz="1750" dirty="0"/>
          </a:p>
          <a:p>
            <a:r>
              <a:rPr lang="en-US" sz="1750" dirty="0">
                <a:solidFill>
                  <a:srgbClr val="17212B"/>
                </a:solidFill>
              </a:rPr>
              <a:t>AI 캐릭터나 다른 유닛에게 재사용하기 어렵다.</a:t>
            </a:r>
            <a:endParaRPr lang="en-US" sz="1750" dirty="0"/>
          </a:p>
          <a:p>
            <a:r>
              <a:rPr lang="en-US" sz="1750" dirty="0">
                <a:solidFill>
                  <a:srgbClr val="17212B"/>
                </a:solidFill>
              </a:rPr>
              <a:t>명령이 실행 대상까지 알고 있다.</a:t>
            </a:r>
            <a:endParaRPr lang="en-US" sz="1750" dirty="0"/>
          </a:p>
        </p:txBody>
      </p:sp>
      <p:sp>
        <p:nvSpPr>
          <p:cNvPr id="10" name="Text 8"/>
          <p:cNvSpPr/>
          <p:nvPr/>
        </p:nvSpPr>
        <p:spPr>
          <a:xfrm>
            <a:off x="4736592" y="1325880"/>
            <a:ext cx="3474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F766E"/>
                </a:solidFill>
              </a:rPr>
              <a:t>개선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4782312" y="1874520"/>
            <a:ext cx="3520440" cy="28803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r>
              <a:rPr lang="en-US" sz="1750" dirty="0">
                <a:solidFill>
                  <a:srgbClr val="17212B"/>
                </a:solidFill>
              </a:rPr>
              <a:t>Command는 행동만 알고 대상은 밖에서 받는다.</a:t>
            </a:r>
            <a:endParaRPr lang="en-US" sz="1750" dirty="0"/>
          </a:p>
          <a:p>
            <a:r>
              <a:rPr lang="en-US" sz="1750" dirty="0">
                <a:solidFill>
                  <a:srgbClr val="17212B"/>
                </a:solidFill>
              </a:rPr>
              <a:t>Execute(actor) 형태로 실행 대상을 분리한다.</a:t>
            </a:r>
            <a:endParaRPr lang="en-US" sz="1750" dirty="0"/>
          </a:p>
          <a:p>
            <a:r>
              <a:rPr lang="en-US" sz="1750" dirty="0">
                <a:solidFill>
                  <a:srgbClr val="17212B"/>
                </a:solidFill>
              </a:rPr>
              <a:t>같은 명령을 여러 Actor에게 적용한다.</a:t>
            </a:r>
            <a:endParaRPr lang="en-US" sz="17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FBF7EF"/>
          </a:solidFill>
          <a:ln w="12700">
            <a:solidFill>
              <a:srgbClr val="FBF7E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8016" cy="571500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/>
          <p:cNvSpPr/>
          <p:nvPr/>
        </p:nvSpPr>
        <p:spPr>
          <a:xfrm>
            <a:off x="8549640" y="5358384"/>
            <a:ext cx="320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A79F94"/>
                </a:solidFill>
              </a:rPr>
              <a:t>11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502920" y="329184"/>
            <a:ext cx="8138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500" b="1" dirty="0">
                <a:solidFill>
                  <a:srgbClr val="17212B"/>
                </a:solidFill>
              </a:rPr>
              <a:t>Actor를 받는 Command</a:t>
            </a:r>
            <a:endParaRPr lang="en-US" sz="2500" dirty="0"/>
          </a:p>
        </p:txBody>
      </p:sp>
      <p:sp>
        <p:nvSpPr>
          <p:cNvPr id="6" name="Text 4"/>
          <p:cNvSpPr/>
          <p:nvPr/>
        </p:nvSpPr>
        <p:spPr>
          <a:xfrm>
            <a:off x="521208" y="804672"/>
            <a:ext cx="7772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50" dirty="0">
                <a:solidFill>
                  <a:srgbClr val="667085"/>
                </a:solidFill>
              </a:rPr>
              <a:t>명령은 행동을 알고, 대상은 외부에서 정한다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502920" y="5321808"/>
            <a:ext cx="5303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9A9187"/>
                </a:solidFill>
              </a:rPr>
              <a:t>Game Programming Patterns - Command | Unity/C# 수업용 재구성</a:t>
            </a:r>
            <a:endParaRPr lang="en-US" sz="700" dirty="0"/>
          </a:p>
        </p:txBody>
      </p:sp>
      <p:sp>
        <p:nvSpPr>
          <p:cNvPr id="8" name="Text 6"/>
          <p:cNvSpPr/>
          <p:nvPr/>
        </p:nvSpPr>
        <p:spPr>
          <a:xfrm>
            <a:off x="658368" y="1133856"/>
            <a:ext cx="7680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600" b="1" dirty="0">
                <a:solidFill>
                  <a:srgbClr val="0F766E"/>
                </a:solidFill>
              </a:rPr>
              <a:t>같은 명령을 플레이어, AI, 다른 유닛에게 쓸 수 있다.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658368" y="1600200"/>
            <a:ext cx="8092440" cy="3401568"/>
          </a:xfrm>
          <a:prstGeom prst="roundRect">
            <a:avLst>
              <a:gd name="adj" fmla="val 2151"/>
            </a:avLst>
          </a:prstGeom>
          <a:solidFill>
            <a:srgbClr val="101827"/>
          </a:solidFill>
          <a:ln w="12700">
            <a:solidFill>
              <a:srgbClr val="2A344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Text 8"/>
          <p:cNvSpPr/>
          <p:nvPr/>
        </p:nvSpPr>
        <p:spPr>
          <a:xfrm>
            <a:off x="859536" y="1764792"/>
            <a:ext cx="7690104" cy="30723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buNone/>
            </a:pPr>
            <a:r>
              <a:rPr lang="en-US" sz="122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public interface IActorCommand</a:t>
            </a:r>
            <a:endParaRPr lang="en-US" sz="1220" dirty="0"/>
          </a:p>
          <a:p>
            <a:pPr marL="0" indent="0">
              <a:buNone/>
            </a:pPr>
            <a:r>
              <a:rPr lang="en-US" sz="122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220" dirty="0"/>
          </a:p>
          <a:p>
            <a:pPr marL="0" indent="0">
              <a:buNone/>
            </a:pPr>
            <a:r>
              <a:rPr lang="en-US" sz="122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void Execute(GameActor actor);</a:t>
            </a:r>
            <a:endParaRPr lang="en-US" sz="1220" dirty="0"/>
          </a:p>
          <a:p>
            <a:pPr marL="0" indent="0">
              <a:buNone/>
            </a:pPr>
            <a:r>
              <a:rPr lang="en-US" sz="122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220" dirty="0"/>
          </a:p>
          <a:p>
            <a:pPr marL="0" indent="0">
              <a:buNone/>
            </a:pPr>
            <a:endParaRPr lang="en-US" sz="1220" dirty="0"/>
          </a:p>
          <a:p>
            <a:pPr marL="0" indent="0">
              <a:buNone/>
            </a:pPr>
            <a:r>
              <a:rPr lang="en-US" sz="122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public sealed class JumpActorCommand : IActorCommand</a:t>
            </a:r>
            <a:endParaRPr lang="en-US" sz="1220" dirty="0"/>
          </a:p>
          <a:p>
            <a:pPr marL="0" indent="0">
              <a:buNone/>
            </a:pPr>
            <a:r>
              <a:rPr lang="en-US" sz="122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220" dirty="0"/>
          </a:p>
          <a:p>
            <a:pPr marL="0" indent="0">
              <a:buNone/>
            </a:pPr>
            <a:r>
              <a:rPr lang="en-US" sz="122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public void Execute(GameActor actor)</a:t>
            </a:r>
            <a:endParaRPr lang="en-US" sz="1220" dirty="0"/>
          </a:p>
          <a:p>
            <a:pPr marL="0" indent="0">
              <a:buNone/>
            </a:pPr>
            <a:r>
              <a:rPr lang="en-US" sz="122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{</a:t>
            </a:r>
            <a:endParaRPr lang="en-US" sz="1220" dirty="0"/>
          </a:p>
          <a:p>
            <a:pPr marL="0" indent="0">
              <a:buNone/>
            </a:pPr>
            <a:r>
              <a:rPr lang="en-US" sz="122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actor.Jump();</a:t>
            </a:r>
            <a:endParaRPr lang="en-US" sz="1220" dirty="0"/>
          </a:p>
          <a:p>
            <a:pPr marL="0" indent="0">
              <a:buNone/>
            </a:pPr>
            <a:r>
              <a:rPr lang="en-US" sz="122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}</a:t>
            </a:r>
            <a:endParaRPr lang="en-US" sz="1220" dirty="0"/>
          </a:p>
          <a:p>
            <a:pPr marL="0" indent="0">
              <a:buNone/>
            </a:pPr>
            <a:r>
              <a:rPr lang="en-US" sz="122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22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FBF7EF"/>
          </a:solidFill>
          <a:ln w="12700">
            <a:solidFill>
              <a:srgbClr val="FBF7E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8016" cy="571500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/>
          <p:cNvSpPr/>
          <p:nvPr/>
        </p:nvSpPr>
        <p:spPr>
          <a:xfrm>
            <a:off x="8549640" y="5358384"/>
            <a:ext cx="320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A79F94"/>
                </a:solidFill>
              </a:rPr>
              <a:t>12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502920" y="329184"/>
            <a:ext cx="8138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500" b="1" dirty="0">
                <a:solidFill>
                  <a:srgbClr val="17212B"/>
                </a:solidFill>
              </a:rPr>
              <a:t>입력은 Command를 반환한다</a:t>
            </a:r>
            <a:endParaRPr lang="en-US" sz="2500" dirty="0"/>
          </a:p>
        </p:txBody>
      </p:sp>
      <p:sp>
        <p:nvSpPr>
          <p:cNvPr id="6" name="Text 4"/>
          <p:cNvSpPr/>
          <p:nvPr/>
        </p:nvSpPr>
        <p:spPr>
          <a:xfrm>
            <a:off x="521208" y="804672"/>
            <a:ext cx="7772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50" dirty="0">
                <a:solidFill>
                  <a:srgbClr val="667085"/>
                </a:solidFill>
              </a:rPr>
              <a:t>실행 대상은 상위 시스템이 고른다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502920" y="5321808"/>
            <a:ext cx="5303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9A9187"/>
                </a:solidFill>
              </a:rPr>
              <a:t>Game Programming Patterns - Command | Unity/C# 수업용 재구성</a:t>
            </a:r>
            <a:endParaRPr lang="en-US" sz="700" dirty="0"/>
          </a:p>
        </p:txBody>
      </p:sp>
      <p:sp>
        <p:nvSpPr>
          <p:cNvPr id="8" name="Text 6"/>
          <p:cNvSpPr/>
          <p:nvPr/>
        </p:nvSpPr>
        <p:spPr>
          <a:xfrm>
            <a:off x="658368" y="1133856"/>
            <a:ext cx="7680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600" b="1" dirty="0">
                <a:solidFill>
                  <a:srgbClr val="0F766E"/>
                </a:solidFill>
              </a:rPr>
              <a:t>입력 핸들러는 번역만 담당한다.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658368" y="1600200"/>
            <a:ext cx="8092440" cy="3401568"/>
          </a:xfrm>
          <a:prstGeom prst="roundRect">
            <a:avLst>
              <a:gd name="adj" fmla="val 2151"/>
            </a:avLst>
          </a:prstGeom>
          <a:solidFill>
            <a:srgbClr val="101827"/>
          </a:solidFill>
          <a:ln w="12700">
            <a:solidFill>
              <a:srgbClr val="2A344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Text 8"/>
          <p:cNvSpPr/>
          <p:nvPr/>
        </p:nvSpPr>
        <p:spPr>
          <a:xfrm>
            <a:off x="859536" y="1764792"/>
            <a:ext cx="7690104" cy="30723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buNone/>
            </a:pPr>
            <a:r>
              <a:rPr lang="en-US" sz="122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public IActorCommand HandleInput()</a:t>
            </a:r>
            <a:endParaRPr lang="en-US" sz="1220" dirty="0"/>
          </a:p>
          <a:p>
            <a:pPr marL="0" indent="0">
              <a:buNone/>
            </a:pPr>
            <a:r>
              <a:rPr lang="en-US" sz="122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220" dirty="0"/>
          </a:p>
          <a:p>
            <a:pPr marL="0" indent="0">
              <a:buNone/>
            </a:pPr>
            <a:r>
              <a:rPr lang="en-US" sz="122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(Input.GetKeyDown(KeyCode.X)) return buttonX;</a:t>
            </a:r>
            <a:endParaRPr lang="en-US" sz="1220" dirty="0"/>
          </a:p>
          <a:p>
            <a:pPr marL="0" indent="0">
              <a:buNone/>
            </a:pPr>
            <a:r>
              <a:rPr lang="en-US" sz="122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(Input.GetKeyDown(KeyCode.Y)) return buttonY;</a:t>
            </a:r>
            <a:endParaRPr lang="en-US" sz="1220" dirty="0"/>
          </a:p>
          <a:p>
            <a:pPr marL="0" indent="0">
              <a:buNone/>
            </a:pPr>
            <a:r>
              <a:rPr lang="en-US" sz="122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null;</a:t>
            </a:r>
            <a:endParaRPr lang="en-US" sz="1220" dirty="0"/>
          </a:p>
          <a:p>
            <a:pPr marL="0" indent="0">
              <a:buNone/>
            </a:pPr>
            <a:r>
              <a:rPr lang="en-US" sz="122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220" dirty="0"/>
          </a:p>
          <a:p>
            <a:pPr marL="0" indent="0">
              <a:buNone/>
            </a:pPr>
            <a:endParaRPr lang="en-US" sz="1220" dirty="0"/>
          </a:p>
          <a:p>
            <a:pPr marL="0" indent="0">
              <a:buNone/>
            </a:pPr>
            <a:r>
              <a:rPr lang="en-US" sz="122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void Update()</a:t>
            </a:r>
            <a:endParaRPr lang="en-US" sz="1220" dirty="0"/>
          </a:p>
          <a:p>
            <a:pPr marL="0" indent="0">
              <a:buNone/>
            </a:pPr>
            <a:r>
              <a:rPr lang="en-US" sz="122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220" dirty="0"/>
          </a:p>
          <a:p>
            <a:pPr marL="0" indent="0">
              <a:buNone/>
            </a:pPr>
            <a:r>
              <a:rPr lang="en-US" sz="122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IActorCommand command = HandleInput();</a:t>
            </a:r>
            <a:endParaRPr lang="en-US" sz="1220" dirty="0"/>
          </a:p>
          <a:p>
            <a:pPr marL="0" indent="0">
              <a:buNone/>
            </a:pPr>
            <a:r>
              <a:rPr lang="en-US" sz="122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(command != null)</a:t>
            </a:r>
            <a:endParaRPr lang="en-US" sz="1220" dirty="0"/>
          </a:p>
          <a:p>
            <a:pPr marL="0" indent="0">
              <a:buNone/>
            </a:pPr>
            <a:r>
              <a:rPr lang="en-US" sz="122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command.Execute(currentActor);</a:t>
            </a:r>
            <a:endParaRPr lang="en-US" sz="1220" dirty="0"/>
          </a:p>
          <a:p>
            <a:pPr marL="0" indent="0">
              <a:buNone/>
            </a:pPr>
            <a:r>
              <a:rPr lang="en-US" sz="122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22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FBF7EF"/>
          </a:solidFill>
          <a:ln w="12700">
            <a:solidFill>
              <a:srgbClr val="FBF7E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8016" cy="571500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/>
          <p:cNvSpPr/>
          <p:nvPr/>
        </p:nvSpPr>
        <p:spPr>
          <a:xfrm>
            <a:off x="8549640" y="5358384"/>
            <a:ext cx="320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A79F94"/>
                </a:solidFill>
              </a:rPr>
              <a:t>13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502920" y="329184"/>
            <a:ext cx="8138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500" b="1" dirty="0">
                <a:solidFill>
                  <a:srgbClr val="17212B"/>
                </a:solidFill>
              </a:rPr>
              <a:t>입력, AI, 리플레이가 같은 언어를 쓴다</a:t>
            </a:r>
            <a:endParaRPr lang="en-US" sz="2500" dirty="0"/>
          </a:p>
        </p:txBody>
      </p:sp>
      <p:sp>
        <p:nvSpPr>
          <p:cNvPr id="6" name="Text 4"/>
          <p:cNvSpPr/>
          <p:nvPr/>
        </p:nvSpPr>
        <p:spPr>
          <a:xfrm>
            <a:off x="521208" y="804672"/>
            <a:ext cx="7772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50" dirty="0">
                <a:solidFill>
                  <a:srgbClr val="667085"/>
                </a:solidFill>
              </a:rPr>
              <a:t>Command 생산자와 소비자를 분리한다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502920" y="5321808"/>
            <a:ext cx="5303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9A9187"/>
                </a:solidFill>
              </a:rPr>
              <a:t>Game Programming Patterns - Command | Unity/C# 수업용 재구성</a:t>
            </a:r>
            <a:endParaRPr lang="en-US" sz="700" dirty="0"/>
          </a:p>
        </p:txBody>
      </p:sp>
      <p:sp>
        <p:nvSpPr>
          <p:cNvPr id="8" name="Text 6"/>
          <p:cNvSpPr/>
          <p:nvPr/>
        </p:nvSpPr>
        <p:spPr>
          <a:xfrm>
            <a:off x="713232" y="1325880"/>
            <a:ext cx="7589520" cy="6217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900" b="1" dirty="0">
                <a:solidFill>
                  <a:srgbClr val="17212B"/>
                </a:solidFill>
              </a:rPr>
              <a:t>누가 명령을 만들었는지와 누가 실행하는지는 별개다.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594360" y="2331720"/>
            <a:ext cx="1865376" cy="713232"/>
          </a:xfrm>
          <a:prstGeom prst="roundRect">
            <a:avLst>
              <a:gd name="adj" fmla="val 10256"/>
            </a:avLst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Text 8"/>
          <p:cNvSpPr/>
          <p:nvPr/>
        </p:nvSpPr>
        <p:spPr>
          <a:xfrm>
            <a:off x="667512" y="2542032"/>
            <a:ext cx="17190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Player Input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2487168" y="2542032"/>
            <a:ext cx="10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67085"/>
                </a:solidFill>
              </a:rPr>
              <a:t>→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2624328" y="2331720"/>
            <a:ext cx="1865376" cy="713232"/>
          </a:xfrm>
          <a:prstGeom prst="roundRect">
            <a:avLst>
              <a:gd name="adj" fmla="val 10256"/>
            </a:avLst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1"/>
          <p:cNvSpPr/>
          <p:nvPr/>
        </p:nvSpPr>
        <p:spPr>
          <a:xfrm>
            <a:off x="2697480" y="2542032"/>
            <a:ext cx="17190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AI Brain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517136" y="2542032"/>
            <a:ext cx="10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67085"/>
                </a:solidFill>
              </a:rPr>
              <a:t>→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4654296" y="2331720"/>
            <a:ext cx="1865376" cy="713232"/>
          </a:xfrm>
          <a:prstGeom prst="roundRect">
            <a:avLst>
              <a:gd name="adj" fmla="val 10256"/>
            </a:avLst>
          </a:prstGeom>
          <a:solidFill>
            <a:srgbClr val="E45745"/>
          </a:solidFill>
          <a:ln w="12700">
            <a:solidFill>
              <a:srgbClr val="E4574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6" name="Text 14"/>
          <p:cNvSpPr/>
          <p:nvPr/>
        </p:nvSpPr>
        <p:spPr>
          <a:xfrm>
            <a:off x="4727448" y="2542032"/>
            <a:ext cx="17190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Replay Log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547104" y="2542032"/>
            <a:ext cx="10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67085"/>
                </a:solidFill>
              </a:rPr>
              <a:t>→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6684264" y="2331720"/>
            <a:ext cx="1865376" cy="713232"/>
          </a:xfrm>
          <a:prstGeom prst="roundRect">
            <a:avLst>
              <a:gd name="adj" fmla="val 10256"/>
            </a:avLst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" name="Text 17"/>
          <p:cNvSpPr/>
          <p:nvPr/>
        </p:nvSpPr>
        <p:spPr>
          <a:xfrm>
            <a:off x="6757416" y="2542032"/>
            <a:ext cx="17190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Actor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822960" y="3474720"/>
            <a:ext cx="7406640" cy="12344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r>
              <a:rPr lang="en-US" sz="1650" dirty="0">
                <a:solidFill>
                  <a:srgbClr val="17212B"/>
                </a:solidFill>
              </a:rPr>
              <a:t>AI는 Command를 생성하기만 하면 Actor 코드를 재사용한다.</a:t>
            </a:r>
            <a:endParaRPr lang="en-US" sz="1650" dirty="0"/>
          </a:p>
          <a:p>
            <a:r>
              <a:rPr lang="en-US" sz="1650" dirty="0">
                <a:solidFill>
                  <a:srgbClr val="17212B"/>
                </a:solidFill>
              </a:rPr>
              <a:t>리플레이는 저장된 Command를 같은 실행 경로로 다시 넣는다.</a:t>
            </a:r>
            <a:endParaRPr lang="en-US" sz="16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FBF7EF"/>
          </a:solidFill>
          <a:ln w="12700">
            <a:solidFill>
              <a:srgbClr val="FBF7E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8016" cy="5715000"/>
          </a:xfrm>
          <a:prstGeom prst="rect">
            <a:avLst/>
          </a:prstGeom>
          <a:solidFill>
            <a:srgbClr val="E45745"/>
          </a:solidFill>
          <a:ln w="12700">
            <a:solidFill>
              <a:srgbClr val="E4574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/>
          <p:cNvSpPr/>
          <p:nvPr/>
        </p:nvSpPr>
        <p:spPr>
          <a:xfrm>
            <a:off x="8549640" y="5358384"/>
            <a:ext cx="320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A79F94"/>
                </a:solidFill>
              </a:rPr>
              <a:t>14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502920" y="329184"/>
            <a:ext cx="8138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500" b="1" dirty="0">
                <a:solidFill>
                  <a:srgbClr val="17212B"/>
                </a:solidFill>
              </a:rPr>
              <a:t>Command Stream</a:t>
            </a:r>
            <a:endParaRPr lang="en-US" sz="2500" dirty="0"/>
          </a:p>
        </p:txBody>
      </p:sp>
      <p:sp>
        <p:nvSpPr>
          <p:cNvPr id="6" name="Text 4"/>
          <p:cNvSpPr/>
          <p:nvPr/>
        </p:nvSpPr>
        <p:spPr>
          <a:xfrm>
            <a:off x="521208" y="804672"/>
            <a:ext cx="7772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50" dirty="0">
                <a:solidFill>
                  <a:srgbClr val="667085"/>
                </a:solidFill>
              </a:rPr>
              <a:t>명령을 큐처럼 흘려보낸다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502920" y="5321808"/>
            <a:ext cx="5303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9A9187"/>
                </a:solidFill>
              </a:rPr>
              <a:t>Game Programming Patterns - Command | Unity/C# 수업용 재구성</a:t>
            </a:r>
            <a:endParaRPr lang="en-US" sz="700" dirty="0"/>
          </a:p>
        </p:txBody>
      </p:sp>
      <p:sp>
        <p:nvSpPr>
          <p:cNvPr id="8" name="Text 6"/>
          <p:cNvSpPr/>
          <p:nvPr/>
        </p:nvSpPr>
        <p:spPr>
          <a:xfrm>
            <a:off x="713232" y="1325880"/>
            <a:ext cx="7589520" cy="6217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900" b="1" dirty="0">
                <a:solidFill>
                  <a:srgbClr val="17212B"/>
                </a:solidFill>
              </a:rPr>
              <a:t>Command는 객체이므로 저장, 전달, 지연 실행할 수 있다.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594360" y="2331720"/>
            <a:ext cx="1865376" cy="713232"/>
          </a:xfrm>
          <a:prstGeom prst="roundRect">
            <a:avLst>
              <a:gd name="adj" fmla="val 10256"/>
            </a:avLst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Text 8"/>
          <p:cNvSpPr/>
          <p:nvPr/>
        </p:nvSpPr>
        <p:spPr>
          <a:xfrm>
            <a:off x="667512" y="2542032"/>
            <a:ext cx="17190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Producer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2487168" y="2542032"/>
            <a:ext cx="10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67085"/>
                </a:solidFill>
              </a:rPr>
              <a:t>→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2624328" y="2331720"/>
            <a:ext cx="1865376" cy="713232"/>
          </a:xfrm>
          <a:prstGeom prst="roundRect">
            <a:avLst>
              <a:gd name="adj" fmla="val 10256"/>
            </a:avLst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1"/>
          <p:cNvSpPr/>
          <p:nvPr/>
        </p:nvSpPr>
        <p:spPr>
          <a:xfrm>
            <a:off x="2697480" y="2542032"/>
            <a:ext cx="17190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Queue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517136" y="2542032"/>
            <a:ext cx="10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67085"/>
                </a:solidFill>
              </a:rPr>
              <a:t>→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4654296" y="2331720"/>
            <a:ext cx="1865376" cy="713232"/>
          </a:xfrm>
          <a:prstGeom prst="roundRect">
            <a:avLst>
              <a:gd name="adj" fmla="val 10256"/>
            </a:avLst>
          </a:prstGeom>
          <a:solidFill>
            <a:srgbClr val="E45745"/>
          </a:solidFill>
          <a:ln w="12700">
            <a:solidFill>
              <a:srgbClr val="E4574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6" name="Text 14"/>
          <p:cNvSpPr/>
          <p:nvPr/>
        </p:nvSpPr>
        <p:spPr>
          <a:xfrm>
            <a:off x="4727448" y="2542032"/>
            <a:ext cx="17190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Dispatcher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547104" y="2542032"/>
            <a:ext cx="10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67085"/>
                </a:solidFill>
              </a:rPr>
              <a:t>→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6684264" y="2331720"/>
            <a:ext cx="1865376" cy="713232"/>
          </a:xfrm>
          <a:prstGeom prst="roundRect">
            <a:avLst>
              <a:gd name="adj" fmla="val 10256"/>
            </a:avLst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" name="Text 17"/>
          <p:cNvSpPr/>
          <p:nvPr/>
        </p:nvSpPr>
        <p:spPr>
          <a:xfrm>
            <a:off x="6757416" y="2542032"/>
            <a:ext cx="17190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Consumer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822960" y="3474720"/>
            <a:ext cx="7406640" cy="12344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r>
              <a:rPr lang="en-US" sz="1650" dirty="0">
                <a:solidFill>
                  <a:srgbClr val="17212B"/>
                </a:solidFill>
              </a:rPr>
              <a:t>입력, AI, 네트워크 수신부가 Producer가 될 수 있다.</a:t>
            </a:r>
            <a:endParaRPr lang="en-US" sz="1650" dirty="0"/>
          </a:p>
          <a:p>
            <a:r>
              <a:rPr lang="en-US" sz="1650" dirty="0">
                <a:solidFill>
                  <a:srgbClr val="17212B"/>
                </a:solidFill>
              </a:rPr>
              <a:t>큐는 실행 순서와 시스템 간 완충 역할을 한다.</a:t>
            </a:r>
            <a:endParaRPr lang="en-US" sz="16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FBF7EF"/>
          </a:solidFill>
          <a:ln w="12700">
            <a:solidFill>
              <a:srgbClr val="FBF7E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8016" cy="571500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/>
          <p:cNvSpPr/>
          <p:nvPr/>
        </p:nvSpPr>
        <p:spPr>
          <a:xfrm>
            <a:off x="8549640" y="5358384"/>
            <a:ext cx="320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A79F94"/>
                </a:solidFill>
              </a:rPr>
              <a:t>15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502920" y="329184"/>
            <a:ext cx="8138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500" b="1" dirty="0">
                <a:solidFill>
                  <a:srgbClr val="17212B"/>
                </a:solidFill>
              </a:rPr>
              <a:t>네트워크와 리플레이</a:t>
            </a:r>
            <a:endParaRPr lang="en-US" sz="2500" dirty="0"/>
          </a:p>
        </p:txBody>
      </p:sp>
      <p:sp>
        <p:nvSpPr>
          <p:cNvPr id="6" name="Text 4"/>
          <p:cNvSpPr/>
          <p:nvPr/>
        </p:nvSpPr>
        <p:spPr>
          <a:xfrm>
            <a:off x="502920" y="5321808"/>
            <a:ext cx="5303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9A9187"/>
                </a:solidFill>
              </a:rPr>
              <a:t>Game Programming Patterns - Command | Unity/C# 수업용 재구성</a:t>
            </a:r>
            <a:endParaRPr lang="en-US" sz="700" dirty="0"/>
          </a:p>
        </p:txBody>
      </p:sp>
      <p:sp>
        <p:nvSpPr>
          <p:cNvPr id="7" name="Text 5"/>
          <p:cNvSpPr/>
          <p:nvPr/>
        </p:nvSpPr>
        <p:spPr>
          <a:xfrm>
            <a:off x="685800" y="1417320"/>
            <a:ext cx="7680960" cy="10515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3000" b="1" dirty="0">
                <a:solidFill>
                  <a:srgbClr val="E45745"/>
                </a:solidFill>
              </a:rPr>
              <a:t>전체 상태가 아니라, 실행된 Command 목록을 기록한다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822960" y="2788920"/>
            <a:ext cx="7452360" cy="17830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r>
              <a:rPr lang="en-US" sz="1900" dirty="0">
                <a:solidFill>
                  <a:srgbClr val="17212B"/>
                </a:solidFill>
              </a:rPr>
              <a:t>멀티플레이에서는 Command를 직렬화해서 전송할 수 있다.</a:t>
            </a:r>
            <a:endParaRPr lang="en-US" sz="1900" dirty="0"/>
          </a:p>
          <a:p>
            <a:r>
              <a:rPr lang="en-US" sz="1900" dirty="0">
                <a:solidFill>
                  <a:srgbClr val="17212B"/>
                </a:solidFill>
              </a:rPr>
              <a:t>리플레이는 Command 로그를 다시 실행해 플레이를 재현한다.</a:t>
            </a:r>
            <a:endParaRPr lang="en-US" sz="1900" dirty="0"/>
          </a:p>
          <a:p>
            <a:r>
              <a:rPr lang="en-US" sz="1900" dirty="0">
                <a:solidFill>
                  <a:srgbClr val="17212B"/>
                </a:solidFill>
              </a:rPr>
              <a:t>결정론, 랜덤 시드, 버전 호환성은 별도 관리가 필요하다.</a:t>
            </a:r>
            <a:endParaRPr lang="en-US" sz="1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FBF7EF"/>
          </a:solidFill>
          <a:ln w="12700">
            <a:solidFill>
              <a:srgbClr val="FBF7E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8016" cy="571500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/>
          <p:cNvSpPr/>
          <p:nvPr/>
        </p:nvSpPr>
        <p:spPr>
          <a:xfrm>
            <a:off x="8549640" y="5358384"/>
            <a:ext cx="320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A79F94"/>
                </a:solidFill>
              </a:rPr>
              <a:t>16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502920" y="329184"/>
            <a:ext cx="8138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500" b="1" dirty="0">
                <a:solidFill>
                  <a:srgbClr val="17212B"/>
                </a:solidFill>
              </a:rPr>
              <a:t>Undo/Redo</a:t>
            </a:r>
            <a:endParaRPr lang="en-US" sz="2500" dirty="0"/>
          </a:p>
        </p:txBody>
      </p:sp>
      <p:sp>
        <p:nvSpPr>
          <p:cNvPr id="6" name="Text 4"/>
          <p:cNvSpPr/>
          <p:nvPr/>
        </p:nvSpPr>
        <p:spPr>
          <a:xfrm>
            <a:off x="502920" y="5321808"/>
            <a:ext cx="5303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9A9187"/>
                </a:solidFill>
              </a:rPr>
              <a:t>Game Programming Patterns - Command | Unity/C# 수업용 재구성</a:t>
            </a:r>
            <a:endParaRPr lang="en-US" sz="700" dirty="0"/>
          </a:p>
        </p:txBody>
      </p:sp>
      <p:sp>
        <p:nvSpPr>
          <p:cNvPr id="7" name="Text 5"/>
          <p:cNvSpPr/>
          <p:nvPr/>
        </p:nvSpPr>
        <p:spPr>
          <a:xfrm>
            <a:off x="685800" y="1417320"/>
            <a:ext cx="7680960" cy="10515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3000" b="1" dirty="0">
                <a:solidFill>
                  <a:srgbClr val="0F766E"/>
                </a:solidFill>
              </a:rPr>
              <a:t>실행한 일을 객체로 들고 있으면, 되돌릴 일도 객체에게 맡길 수 있다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822960" y="2788920"/>
            <a:ext cx="7452360" cy="17830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r>
              <a:rPr lang="en-US" sz="1900" dirty="0">
                <a:solidFill>
                  <a:srgbClr val="17212B"/>
                </a:solidFill>
              </a:rPr>
              <a:t>레벨 에디터, 턴제 전략, 맵 편집 툴에서 특히 중요하다.</a:t>
            </a:r>
            <a:endParaRPr lang="en-US" sz="1900" dirty="0"/>
          </a:p>
          <a:p>
            <a:r>
              <a:rPr lang="en-US" sz="1900" dirty="0">
                <a:solidFill>
                  <a:srgbClr val="17212B"/>
                </a:solidFill>
              </a:rPr>
              <a:t>Command는 Execute와 Undo를 함께 제공할 수 있다.</a:t>
            </a:r>
            <a:endParaRPr lang="en-US" sz="1900" dirty="0"/>
          </a:p>
          <a:p>
            <a:r>
              <a:rPr lang="en-US" sz="1900" dirty="0">
                <a:solidFill>
                  <a:srgbClr val="17212B"/>
                </a:solidFill>
              </a:rPr>
              <a:t>상태 변경은 Command를 통해서만 일어나야 히스토리가 정확하다.</a:t>
            </a:r>
            <a:endParaRPr lang="en-US" sz="1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FBF7EF"/>
          </a:solidFill>
          <a:ln w="12700">
            <a:solidFill>
              <a:srgbClr val="FBF7E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8016" cy="571500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/>
          <p:cNvSpPr/>
          <p:nvPr/>
        </p:nvSpPr>
        <p:spPr>
          <a:xfrm>
            <a:off x="8549640" y="5358384"/>
            <a:ext cx="320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A79F94"/>
                </a:solidFill>
              </a:rPr>
              <a:t>17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502920" y="329184"/>
            <a:ext cx="8138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500" b="1" dirty="0">
                <a:solidFill>
                  <a:srgbClr val="17212B"/>
                </a:solidFill>
              </a:rPr>
              <a:t>Undo 가능한 인터페이스</a:t>
            </a:r>
            <a:endParaRPr lang="en-US" sz="2500" dirty="0"/>
          </a:p>
        </p:txBody>
      </p:sp>
      <p:sp>
        <p:nvSpPr>
          <p:cNvPr id="6" name="Text 4"/>
          <p:cNvSpPr/>
          <p:nvPr/>
        </p:nvSpPr>
        <p:spPr>
          <a:xfrm>
            <a:off x="521208" y="804672"/>
            <a:ext cx="7772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50" dirty="0">
                <a:solidFill>
                  <a:srgbClr val="667085"/>
                </a:solidFill>
              </a:rPr>
              <a:t>실행과 되돌리기를 한 쌍으로 둔다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502920" y="5321808"/>
            <a:ext cx="5303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9A9187"/>
                </a:solidFill>
              </a:rPr>
              <a:t>Game Programming Patterns - Command | Unity/C# 수업용 재구성</a:t>
            </a:r>
            <a:endParaRPr lang="en-US" sz="700" dirty="0"/>
          </a:p>
        </p:txBody>
      </p:sp>
      <p:sp>
        <p:nvSpPr>
          <p:cNvPr id="8" name="Text 6"/>
          <p:cNvSpPr/>
          <p:nvPr/>
        </p:nvSpPr>
        <p:spPr>
          <a:xfrm>
            <a:off x="658368" y="1133856"/>
            <a:ext cx="7680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600" b="1" dirty="0">
                <a:solidFill>
                  <a:srgbClr val="0F766E"/>
                </a:solidFill>
              </a:rPr>
              <a:t>되돌릴 수 있는 명령은 Execute와 Undo를 가진다.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658368" y="1600200"/>
            <a:ext cx="8092440" cy="3401568"/>
          </a:xfrm>
          <a:prstGeom prst="roundRect">
            <a:avLst>
              <a:gd name="adj" fmla="val 2151"/>
            </a:avLst>
          </a:prstGeom>
          <a:solidFill>
            <a:srgbClr val="101827"/>
          </a:solidFill>
          <a:ln w="12700">
            <a:solidFill>
              <a:srgbClr val="2A344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Text 8"/>
          <p:cNvSpPr/>
          <p:nvPr/>
        </p:nvSpPr>
        <p:spPr>
          <a:xfrm>
            <a:off x="859536" y="1764792"/>
            <a:ext cx="7690104" cy="30723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buNone/>
            </a:pPr>
            <a:r>
              <a:rPr lang="en-US" sz="122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public interface IUndoableCommand</a:t>
            </a:r>
            <a:endParaRPr lang="en-US" sz="1220" dirty="0"/>
          </a:p>
          <a:p>
            <a:pPr marL="0" indent="0">
              <a:buNone/>
            </a:pPr>
            <a:r>
              <a:rPr lang="en-US" sz="122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220" dirty="0"/>
          </a:p>
          <a:p>
            <a:pPr marL="0" indent="0">
              <a:buNone/>
            </a:pPr>
            <a:r>
              <a:rPr lang="en-US" sz="122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void Execute();</a:t>
            </a:r>
            <a:endParaRPr lang="en-US" sz="1220" dirty="0"/>
          </a:p>
          <a:p>
            <a:pPr marL="0" indent="0">
              <a:buNone/>
            </a:pPr>
            <a:r>
              <a:rPr lang="en-US" sz="122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void Undo();</a:t>
            </a:r>
            <a:endParaRPr lang="en-US" sz="1220" dirty="0"/>
          </a:p>
          <a:p>
            <a:pPr marL="0" indent="0">
              <a:buNone/>
            </a:pPr>
            <a:r>
              <a:rPr lang="en-US" sz="122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220" dirty="0"/>
          </a:p>
          <a:p>
            <a:pPr marL="0" indent="0">
              <a:buNone/>
            </a:pPr>
            <a:endParaRPr lang="en-US" sz="1220" dirty="0"/>
          </a:p>
          <a:p>
            <a:pPr marL="0" indent="0">
              <a:buNone/>
            </a:pPr>
            <a:r>
              <a:rPr lang="en-US" sz="122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public sealed class MoveUnitCommand : IUndoableCommand</a:t>
            </a:r>
            <a:endParaRPr lang="en-US" sz="1220" dirty="0"/>
          </a:p>
          <a:p>
            <a:pPr marL="0" indent="0">
              <a:buNone/>
            </a:pPr>
            <a:r>
              <a:rPr lang="en-US" sz="122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220" dirty="0"/>
          </a:p>
          <a:p>
            <a:pPr marL="0" indent="0">
              <a:buNone/>
            </a:pPr>
            <a:r>
              <a:rPr lang="en-US" sz="122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private readonly Unit unit;</a:t>
            </a:r>
            <a:endParaRPr lang="en-US" sz="1220" dirty="0"/>
          </a:p>
          <a:p>
            <a:pPr marL="0" indent="0">
              <a:buNone/>
            </a:pPr>
            <a:r>
              <a:rPr lang="en-US" sz="122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private readonly Vector2Int destination;</a:t>
            </a:r>
            <a:endParaRPr lang="en-US" sz="1220" dirty="0"/>
          </a:p>
          <a:p>
            <a:pPr marL="0" indent="0">
              <a:buNone/>
            </a:pPr>
            <a:r>
              <a:rPr lang="en-US" sz="122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private Vector2Int before;</a:t>
            </a:r>
            <a:endParaRPr lang="en-US" sz="1220" dirty="0"/>
          </a:p>
          <a:p>
            <a:pPr marL="0" indent="0">
              <a:buNone/>
            </a:pPr>
            <a:r>
              <a:rPr lang="en-US" sz="122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22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FBF7EF"/>
          </a:solidFill>
          <a:ln w="12700">
            <a:solidFill>
              <a:srgbClr val="FBF7E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8016" cy="5715000"/>
          </a:xfrm>
          <a:prstGeom prst="rect">
            <a:avLst/>
          </a:prstGeom>
          <a:solidFill>
            <a:srgbClr val="E45745"/>
          </a:solidFill>
          <a:ln w="12700">
            <a:solidFill>
              <a:srgbClr val="E4574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/>
          <p:cNvSpPr/>
          <p:nvPr/>
        </p:nvSpPr>
        <p:spPr>
          <a:xfrm>
            <a:off x="8549640" y="5358384"/>
            <a:ext cx="320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A79F94"/>
                </a:solidFill>
              </a:rPr>
              <a:t>18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502920" y="329184"/>
            <a:ext cx="8138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500" b="1" dirty="0">
                <a:solidFill>
                  <a:srgbClr val="17212B"/>
                </a:solidFill>
              </a:rPr>
              <a:t>MoveUnitCommand 완성</a:t>
            </a:r>
            <a:endParaRPr lang="en-US" sz="2500" dirty="0"/>
          </a:p>
        </p:txBody>
      </p:sp>
      <p:sp>
        <p:nvSpPr>
          <p:cNvPr id="6" name="Text 4"/>
          <p:cNvSpPr/>
          <p:nvPr/>
        </p:nvSpPr>
        <p:spPr>
          <a:xfrm>
            <a:off x="521208" y="804672"/>
            <a:ext cx="7772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50" dirty="0">
                <a:solidFill>
                  <a:srgbClr val="667085"/>
                </a:solidFill>
              </a:rPr>
              <a:t>이전 위치만 저장해도 이동은 되돌릴 수 있다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502920" y="5321808"/>
            <a:ext cx="5303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9A9187"/>
                </a:solidFill>
              </a:rPr>
              <a:t>Game Programming Patterns - Command | Unity/C# 수업용 재구성</a:t>
            </a:r>
            <a:endParaRPr lang="en-US" sz="700" dirty="0"/>
          </a:p>
        </p:txBody>
      </p:sp>
      <p:sp>
        <p:nvSpPr>
          <p:cNvPr id="8" name="Text 6"/>
          <p:cNvSpPr/>
          <p:nvPr/>
        </p:nvSpPr>
        <p:spPr>
          <a:xfrm>
            <a:off x="658368" y="1133856"/>
            <a:ext cx="7680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600" b="1" dirty="0">
                <a:solidFill>
                  <a:srgbClr val="0F766E"/>
                </a:solidFill>
              </a:rPr>
              <a:t>전체 스냅샷이 아니라 바뀐 최소 상태만 기억한다.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658368" y="1600200"/>
            <a:ext cx="8092440" cy="3401568"/>
          </a:xfrm>
          <a:prstGeom prst="roundRect">
            <a:avLst>
              <a:gd name="adj" fmla="val 2151"/>
            </a:avLst>
          </a:prstGeom>
          <a:solidFill>
            <a:srgbClr val="101827"/>
          </a:solidFill>
          <a:ln w="12700">
            <a:solidFill>
              <a:srgbClr val="2A344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Text 8"/>
          <p:cNvSpPr/>
          <p:nvPr/>
        </p:nvSpPr>
        <p:spPr>
          <a:xfrm>
            <a:off x="859536" y="1764792"/>
            <a:ext cx="7690104" cy="30723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buNone/>
            </a:pPr>
            <a:r>
              <a:rPr lang="en-US" sz="122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public void Execute()</a:t>
            </a:r>
            <a:endParaRPr lang="en-US" sz="1220" dirty="0"/>
          </a:p>
          <a:p>
            <a:pPr marL="0" indent="0">
              <a:buNone/>
            </a:pPr>
            <a:r>
              <a:rPr lang="en-US" sz="122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220" dirty="0"/>
          </a:p>
          <a:p>
            <a:pPr marL="0" indent="0">
              <a:buNone/>
            </a:pPr>
            <a:r>
              <a:rPr lang="en-US" sz="122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before = unit.GridPosition;</a:t>
            </a:r>
            <a:endParaRPr lang="en-US" sz="1220" dirty="0"/>
          </a:p>
          <a:p>
            <a:pPr marL="0" indent="0">
              <a:buNone/>
            </a:pPr>
            <a:r>
              <a:rPr lang="en-US" sz="122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unit.MoveTo(destination);</a:t>
            </a:r>
            <a:endParaRPr lang="en-US" sz="1220" dirty="0"/>
          </a:p>
          <a:p>
            <a:pPr marL="0" indent="0">
              <a:buNone/>
            </a:pPr>
            <a:r>
              <a:rPr lang="en-US" sz="122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220" dirty="0"/>
          </a:p>
          <a:p>
            <a:pPr marL="0" indent="0">
              <a:buNone/>
            </a:pPr>
            <a:endParaRPr lang="en-US" sz="1220" dirty="0"/>
          </a:p>
          <a:p>
            <a:pPr marL="0" indent="0">
              <a:buNone/>
            </a:pPr>
            <a:r>
              <a:rPr lang="en-US" sz="122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public void Undo()</a:t>
            </a:r>
            <a:endParaRPr lang="en-US" sz="1220" dirty="0"/>
          </a:p>
          <a:p>
            <a:pPr marL="0" indent="0">
              <a:buNone/>
            </a:pPr>
            <a:r>
              <a:rPr lang="en-US" sz="122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220" dirty="0"/>
          </a:p>
          <a:p>
            <a:pPr marL="0" indent="0">
              <a:buNone/>
            </a:pPr>
            <a:r>
              <a:rPr lang="en-US" sz="122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unit.MoveTo(before);</a:t>
            </a:r>
            <a:endParaRPr lang="en-US" sz="1220" dirty="0"/>
          </a:p>
          <a:p>
            <a:pPr marL="0" indent="0">
              <a:buNone/>
            </a:pPr>
            <a:r>
              <a:rPr lang="en-US" sz="122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22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FBF7EF"/>
          </a:solidFill>
          <a:ln w="12700">
            <a:solidFill>
              <a:srgbClr val="FBF7E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8016" cy="571500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/>
          <p:cNvSpPr/>
          <p:nvPr/>
        </p:nvSpPr>
        <p:spPr>
          <a:xfrm>
            <a:off x="8549640" y="5358384"/>
            <a:ext cx="320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A79F94"/>
                </a:solidFill>
              </a:rPr>
              <a:t>19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502920" y="329184"/>
            <a:ext cx="8138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500" b="1" dirty="0">
                <a:solidFill>
                  <a:srgbClr val="17212B"/>
                </a:solidFill>
              </a:rPr>
              <a:t>입력할 때마다 새 명령을 만든다</a:t>
            </a:r>
            <a:endParaRPr lang="en-US" sz="2500" dirty="0"/>
          </a:p>
        </p:txBody>
      </p:sp>
      <p:sp>
        <p:nvSpPr>
          <p:cNvPr id="6" name="Text 4"/>
          <p:cNvSpPr/>
          <p:nvPr/>
        </p:nvSpPr>
        <p:spPr>
          <a:xfrm>
            <a:off x="521208" y="804672"/>
            <a:ext cx="7772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50" dirty="0">
                <a:solidFill>
                  <a:srgbClr val="667085"/>
                </a:solidFill>
              </a:rPr>
              <a:t>명령 하나가 히스토리 항목 하나가 된다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502920" y="5321808"/>
            <a:ext cx="5303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9A9187"/>
                </a:solidFill>
              </a:rPr>
              <a:t>Game Programming Patterns - Command | Unity/C# 수업용 재구성</a:t>
            </a:r>
            <a:endParaRPr lang="en-US" sz="700" dirty="0"/>
          </a:p>
        </p:txBody>
      </p:sp>
      <p:sp>
        <p:nvSpPr>
          <p:cNvPr id="8" name="Text 6"/>
          <p:cNvSpPr/>
          <p:nvPr/>
        </p:nvSpPr>
        <p:spPr>
          <a:xfrm>
            <a:off x="658368" y="1133856"/>
            <a:ext cx="7680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600" b="1" dirty="0">
                <a:solidFill>
                  <a:srgbClr val="0F766E"/>
                </a:solidFill>
              </a:rPr>
              <a:t>방향키 입력은 곧 MoveUnitCommand 생성이다.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658368" y="1600200"/>
            <a:ext cx="8092440" cy="3401568"/>
          </a:xfrm>
          <a:prstGeom prst="roundRect">
            <a:avLst>
              <a:gd name="adj" fmla="val 2151"/>
            </a:avLst>
          </a:prstGeom>
          <a:solidFill>
            <a:srgbClr val="101827"/>
          </a:solidFill>
          <a:ln w="12700">
            <a:solidFill>
              <a:srgbClr val="2A344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Text 8"/>
          <p:cNvSpPr/>
          <p:nvPr/>
        </p:nvSpPr>
        <p:spPr>
          <a:xfrm>
            <a:off x="859536" y="1764792"/>
            <a:ext cx="7690104" cy="30723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buNone/>
            </a:pPr>
            <a:r>
              <a:rPr lang="en-US" sz="122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Vector2Int pos = unit.GridPosition;</a:t>
            </a:r>
            <a:endParaRPr lang="en-US" sz="1220" dirty="0"/>
          </a:p>
          <a:p>
            <a:pPr marL="0" indent="0">
              <a:buNone/>
            </a:pPr>
            <a:endParaRPr lang="en-US" sz="1220" dirty="0"/>
          </a:p>
          <a:p>
            <a:pPr marL="0" indent="0">
              <a:buNone/>
            </a:pPr>
            <a:r>
              <a:rPr lang="en-US" sz="122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 (Input.GetKeyDown(KeyCode.UpArrow))</a:t>
            </a:r>
            <a:endParaRPr lang="en-US" sz="1220" dirty="0"/>
          </a:p>
          <a:p>
            <a:pPr marL="0" indent="0">
              <a:buNone/>
            </a:pPr>
            <a:r>
              <a:rPr lang="en-US" sz="122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new MoveUnitCommand(unit, pos + Vector2Int.up);</a:t>
            </a:r>
            <a:endParaRPr lang="en-US" sz="1220" dirty="0"/>
          </a:p>
          <a:p>
            <a:pPr marL="0" indent="0">
              <a:buNone/>
            </a:pPr>
            <a:endParaRPr lang="en-US" sz="1220" dirty="0"/>
          </a:p>
          <a:p>
            <a:pPr marL="0" indent="0">
              <a:buNone/>
            </a:pPr>
            <a:r>
              <a:rPr lang="en-US" sz="122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 (Input.GetKeyDown(KeyCode.DownArrow))</a:t>
            </a:r>
            <a:endParaRPr lang="en-US" sz="1220" dirty="0"/>
          </a:p>
          <a:p>
            <a:pPr marL="0" indent="0">
              <a:buNone/>
            </a:pPr>
            <a:r>
              <a:rPr lang="en-US" sz="122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new MoveUnitCommand(unit, pos + Vector2Int.down);</a:t>
            </a:r>
            <a:endParaRPr lang="en-US" sz="1220" dirty="0"/>
          </a:p>
          <a:p>
            <a:pPr marL="0" indent="0">
              <a:buNone/>
            </a:pPr>
            <a:endParaRPr lang="en-US" sz="1220" dirty="0"/>
          </a:p>
          <a:p>
            <a:pPr marL="0" indent="0">
              <a:buNone/>
            </a:pPr>
            <a:r>
              <a:rPr lang="en-US" sz="122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return null;</a:t>
            </a:r>
            <a:endParaRPr lang="en-US" sz="122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FBF7EF"/>
          </a:solidFill>
          <a:ln w="12700">
            <a:solidFill>
              <a:srgbClr val="FBF7E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8016" cy="571500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/>
          <p:cNvSpPr/>
          <p:nvPr/>
        </p:nvSpPr>
        <p:spPr>
          <a:xfrm>
            <a:off x="8549640" y="5358384"/>
            <a:ext cx="320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A79F94"/>
                </a:solidFill>
              </a:rPr>
              <a:t>20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502920" y="329184"/>
            <a:ext cx="8138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500" b="1" dirty="0">
                <a:solidFill>
                  <a:srgbClr val="17212B"/>
                </a:solidFill>
              </a:rPr>
              <a:t>CommandHistory.Execute</a:t>
            </a:r>
            <a:endParaRPr lang="en-US" sz="2500" dirty="0"/>
          </a:p>
        </p:txBody>
      </p:sp>
      <p:sp>
        <p:nvSpPr>
          <p:cNvPr id="6" name="Text 4"/>
          <p:cNvSpPr/>
          <p:nvPr/>
        </p:nvSpPr>
        <p:spPr>
          <a:xfrm>
            <a:off x="521208" y="804672"/>
            <a:ext cx="7772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50" dirty="0">
                <a:solidFill>
                  <a:srgbClr val="667085"/>
                </a:solidFill>
              </a:rPr>
              <a:t>새 명령은 Redo 후보를 지운다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502920" y="5321808"/>
            <a:ext cx="5303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9A9187"/>
                </a:solidFill>
              </a:rPr>
              <a:t>Game Programming Patterns - Command | Unity/C# 수업용 재구성</a:t>
            </a:r>
            <a:endParaRPr lang="en-US" sz="700" dirty="0"/>
          </a:p>
        </p:txBody>
      </p:sp>
      <p:sp>
        <p:nvSpPr>
          <p:cNvPr id="8" name="Text 6"/>
          <p:cNvSpPr/>
          <p:nvPr/>
        </p:nvSpPr>
        <p:spPr>
          <a:xfrm>
            <a:off x="658368" y="1133856"/>
            <a:ext cx="7680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600" b="1" dirty="0">
                <a:solidFill>
                  <a:srgbClr val="0F766E"/>
                </a:solidFill>
              </a:rPr>
              <a:t>Undo 후 새 행동을 하면 미래 기록은 무효가 된다.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658368" y="1600200"/>
            <a:ext cx="8092440" cy="3401568"/>
          </a:xfrm>
          <a:prstGeom prst="roundRect">
            <a:avLst>
              <a:gd name="adj" fmla="val 2151"/>
            </a:avLst>
          </a:prstGeom>
          <a:solidFill>
            <a:srgbClr val="101827"/>
          </a:solidFill>
          <a:ln w="12700">
            <a:solidFill>
              <a:srgbClr val="2A344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Text 8"/>
          <p:cNvSpPr/>
          <p:nvPr/>
        </p:nvSpPr>
        <p:spPr>
          <a:xfrm>
            <a:off x="859536" y="1764792"/>
            <a:ext cx="7690104" cy="30723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buNone/>
            </a:pPr>
            <a:r>
              <a:rPr lang="en-US" sz="122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public void Execute(IUndoableCommand command)</a:t>
            </a:r>
            <a:endParaRPr lang="en-US" sz="1220" dirty="0"/>
          </a:p>
          <a:p>
            <a:pPr marL="0" indent="0">
              <a:buNone/>
            </a:pPr>
            <a:r>
              <a:rPr lang="en-US" sz="122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220" dirty="0"/>
          </a:p>
          <a:p>
            <a:pPr marL="0" indent="0">
              <a:buNone/>
            </a:pPr>
            <a:r>
              <a:rPr lang="en-US" sz="122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commands.RemoveRange(</a:t>
            </a:r>
            <a:endParaRPr lang="en-US" sz="1220" dirty="0"/>
          </a:p>
          <a:p>
            <a:pPr marL="0" indent="0">
              <a:buNone/>
            </a:pPr>
            <a:r>
              <a:rPr lang="en-US" sz="122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current + 1,</a:t>
            </a:r>
            <a:endParaRPr lang="en-US" sz="1220" dirty="0"/>
          </a:p>
          <a:p>
            <a:pPr marL="0" indent="0">
              <a:buNone/>
            </a:pPr>
            <a:r>
              <a:rPr lang="en-US" sz="122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commands.Count - current - 1);</a:t>
            </a:r>
            <a:endParaRPr lang="en-US" sz="1220" dirty="0"/>
          </a:p>
          <a:p>
            <a:pPr marL="0" indent="0">
              <a:buNone/>
            </a:pPr>
            <a:endParaRPr lang="en-US" sz="1220" dirty="0"/>
          </a:p>
          <a:p>
            <a:pPr marL="0" indent="0">
              <a:buNone/>
            </a:pPr>
            <a:r>
              <a:rPr lang="en-US" sz="122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commands.Add(command);</a:t>
            </a:r>
            <a:endParaRPr lang="en-US" sz="1220" dirty="0"/>
          </a:p>
          <a:p>
            <a:pPr marL="0" indent="0">
              <a:buNone/>
            </a:pPr>
            <a:r>
              <a:rPr lang="en-US" sz="122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current++;</a:t>
            </a:r>
            <a:endParaRPr lang="en-US" sz="1220" dirty="0"/>
          </a:p>
          <a:p>
            <a:pPr marL="0" indent="0">
              <a:buNone/>
            </a:pPr>
            <a:r>
              <a:rPr lang="en-US" sz="122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command.Execute();</a:t>
            </a:r>
            <a:endParaRPr lang="en-US" sz="1220" dirty="0"/>
          </a:p>
          <a:p>
            <a:pPr marL="0" indent="0">
              <a:buNone/>
            </a:pPr>
            <a:r>
              <a:rPr lang="en-US" sz="122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22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FBF7EF"/>
          </a:solidFill>
          <a:ln w="12700">
            <a:solidFill>
              <a:srgbClr val="FBF7E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8016" cy="571500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/>
          <p:cNvSpPr/>
          <p:nvPr/>
        </p:nvSpPr>
        <p:spPr>
          <a:xfrm>
            <a:off x="8549640" y="5358384"/>
            <a:ext cx="320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A79F94"/>
                </a:solidFill>
              </a:rPr>
              <a:t>21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502920" y="329184"/>
            <a:ext cx="8138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500" b="1" dirty="0">
                <a:solidFill>
                  <a:srgbClr val="17212B"/>
                </a:solidFill>
              </a:rPr>
              <a:t>Undo와 Redo</a:t>
            </a:r>
            <a:endParaRPr lang="en-US" sz="2500" dirty="0"/>
          </a:p>
        </p:txBody>
      </p:sp>
      <p:sp>
        <p:nvSpPr>
          <p:cNvPr id="6" name="Text 4"/>
          <p:cNvSpPr/>
          <p:nvPr/>
        </p:nvSpPr>
        <p:spPr>
          <a:xfrm>
            <a:off x="521208" y="804672"/>
            <a:ext cx="7772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50" dirty="0">
                <a:solidFill>
                  <a:srgbClr val="667085"/>
                </a:solidFill>
              </a:rPr>
              <a:t>현재 위치를 기준으로 앞뒤로 이동한다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502920" y="5321808"/>
            <a:ext cx="5303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9A9187"/>
                </a:solidFill>
              </a:rPr>
              <a:t>Game Programming Patterns - Command | Unity/C# 수업용 재구성</a:t>
            </a:r>
            <a:endParaRPr lang="en-US" sz="700" dirty="0"/>
          </a:p>
        </p:txBody>
      </p:sp>
      <p:sp>
        <p:nvSpPr>
          <p:cNvPr id="8" name="Text 6"/>
          <p:cNvSpPr/>
          <p:nvPr/>
        </p:nvSpPr>
        <p:spPr>
          <a:xfrm>
            <a:off x="658368" y="1133856"/>
            <a:ext cx="7680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600" b="1" dirty="0">
                <a:solidFill>
                  <a:srgbClr val="0F766E"/>
                </a:solidFill>
              </a:rPr>
              <a:t>히스토리는 선형 시간표처럼 다룬다.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658368" y="1600200"/>
            <a:ext cx="8092440" cy="3401568"/>
          </a:xfrm>
          <a:prstGeom prst="roundRect">
            <a:avLst>
              <a:gd name="adj" fmla="val 2151"/>
            </a:avLst>
          </a:prstGeom>
          <a:solidFill>
            <a:srgbClr val="101827"/>
          </a:solidFill>
          <a:ln w="12700">
            <a:solidFill>
              <a:srgbClr val="2A344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Text 8"/>
          <p:cNvSpPr/>
          <p:nvPr/>
        </p:nvSpPr>
        <p:spPr>
          <a:xfrm>
            <a:off x="859536" y="1764792"/>
            <a:ext cx="7690104" cy="30723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buNone/>
            </a:pPr>
            <a:r>
              <a:rPr lang="en-US" sz="122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public void Undo()</a:t>
            </a:r>
            <a:endParaRPr lang="en-US" sz="1220" dirty="0"/>
          </a:p>
          <a:p>
            <a:pPr marL="0" indent="0">
              <a:buNone/>
            </a:pPr>
            <a:r>
              <a:rPr lang="en-US" sz="122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220" dirty="0"/>
          </a:p>
          <a:p>
            <a:pPr marL="0" indent="0">
              <a:buNone/>
            </a:pPr>
            <a:r>
              <a:rPr lang="en-US" sz="122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(current &lt; 0) return;</a:t>
            </a:r>
            <a:endParaRPr lang="en-US" sz="1220" dirty="0"/>
          </a:p>
          <a:p>
            <a:pPr marL="0" indent="0">
              <a:buNone/>
            </a:pPr>
            <a:r>
              <a:rPr lang="en-US" sz="122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commands[current].Undo();</a:t>
            </a:r>
            <a:endParaRPr lang="en-US" sz="1220" dirty="0"/>
          </a:p>
          <a:p>
            <a:pPr marL="0" indent="0">
              <a:buNone/>
            </a:pPr>
            <a:r>
              <a:rPr lang="en-US" sz="122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current--;</a:t>
            </a:r>
            <a:endParaRPr lang="en-US" sz="1220" dirty="0"/>
          </a:p>
          <a:p>
            <a:pPr marL="0" indent="0">
              <a:buNone/>
            </a:pPr>
            <a:r>
              <a:rPr lang="en-US" sz="122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220" dirty="0"/>
          </a:p>
          <a:p>
            <a:pPr marL="0" indent="0">
              <a:buNone/>
            </a:pPr>
            <a:endParaRPr lang="en-US" sz="1220" dirty="0"/>
          </a:p>
          <a:p>
            <a:pPr marL="0" indent="0">
              <a:buNone/>
            </a:pPr>
            <a:r>
              <a:rPr lang="en-US" sz="122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public void Redo()</a:t>
            </a:r>
            <a:endParaRPr lang="en-US" sz="1220" dirty="0"/>
          </a:p>
          <a:p>
            <a:pPr marL="0" indent="0">
              <a:buNone/>
            </a:pPr>
            <a:r>
              <a:rPr lang="en-US" sz="122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220" dirty="0"/>
          </a:p>
          <a:p>
            <a:pPr marL="0" indent="0">
              <a:buNone/>
            </a:pPr>
            <a:r>
              <a:rPr lang="en-US" sz="122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(current + 1 &gt;= commands.Count) return;</a:t>
            </a:r>
            <a:endParaRPr lang="en-US" sz="1220" dirty="0"/>
          </a:p>
          <a:p>
            <a:pPr marL="0" indent="0">
              <a:buNone/>
            </a:pPr>
            <a:r>
              <a:rPr lang="en-US" sz="122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current++;</a:t>
            </a:r>
            <a:endParaRPr lang="en-US" sz="1220" dirty="0"/>
          </a:p>
          <a:p>
            <a:pPr marL="0" indent="0">
              <a:buNone/>
            </a:pPr>
            <a:r>
              <a:rPr lang="en-US" sz="122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commands[current].Execute();</a:t>
            </a:r>
            <a:endParaRPr lang="en-US" sz="1220" dirty="0"/>
          </a:p>
          <a:p>
            <a:pPr marL="0" indent="0">
              <a:buNone/>
            </a:pPr>
            <a:r>
              <a:rPr lang="en-US" sz="122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22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FBF7EF"/>
          </a:solidFill>
          <a:ln w="12700">
            <a:solidFill>
              <a:srgbClr val="FBF7E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8016" cy="5715000"/>
          </a:xfrm>
          <a:prstGeom prst="rect">
            <a:avLst/>
          </a:prstGeom>
          <a:solidFill>
            <a:srgbClr val="E45745"/>
          </a:solidFill>
          <a:ln w="12700">
            <a:solidFill>
              <a:srgbClr val="E4574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/>
          <p:cNvSpPr/>
          <p:nvPr/>
        </p:nvSpPr>
        <p:spPr>
          <a:xfrm>
            <a:off x="8549640" y="5358384"/>
            <a:ext cx="320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A79F94"/>
                </a:solidFill>
              </a:rPr>
              <a:t>22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502920" y="329184"/>
            <a:ext cx="8138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500" b="1" dirty="0">
                <a:solidFill>
                  <a:srgbClr val="17212B"/>
                </a:solidFill>
              </a:rPr>
              <a:t>Undo/Redo 규칙</a:t>
            </a:r>
            <a:endParaRPr lang="en-US" sz="2500" dirty="0"/>
          </a:p>
        </p:txBody>
      </p:sp>
      <p:sp>
        <p:nvSpPr>
          <p:cNvPr id="6" name="Text 4"/>
          <p:cNvSpPr/>
          <p:nvPr/>
        </p:nvSpPr>
        <p:spPr>
          <a:xfrm>
            <a:off x="521208" y="804672"/>
            <a:ext cx="7772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50" dirty="0">
                <a:solidFill>
                  <a:srgbClr val="667085"/>
                </a:solidFill>
              </a:rPr>
              <a:t>그림으로 기억하기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502920" y="5321808"/>
            <a:ext cx="5303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9A9187"/>
                </a:solidFill>
              </a:rPr>
              <a:t>Game Programming Patterns - Command | Unity/C# 수업용 재구성</a:t>
            </a:r>
            <a:endParaRPr lang="en-US" sz="700" dirty="0"/>
          </a:p>
        </p:txBody>
      </p:sp>
      <p:sp>
        <p:nvSpPr>
          <p:cNvPr id="8" name="Text 6"/>
          <p:cNvSpPr/>
          <p:nvPr/>
        </p:nvSpPr>
        <p:spPr>
          <a:xfrm>
            <a:off x="713232" y="1325880"/>
            <a:ext cx="7589520" cy="6217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900" b="1" dirty="0">
                <a:solidFill>
                  <a:srgbClr val="17212B"/>
                </a:solidFill>
              </a:rPr>
              <a:t>현재보다 오른쪽은 Redo 후보이고, 새 명령이 들어오면 사라진다.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594360" y="2331720"/>
            <a:ext cx="1865376" cy="713232"/>
          </a:xfrm>
          <a:prstGeom prst="roundRect">
            <a:avLst>
              <a:gd name="adj" fmla="val 10256"/>
            </a:avLst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Text 8"/>
          <p:cNvSpPr/>
          <p:nvPr/>
        </p:nvSpPr>
        <p:spPr>
          <a:xfrm>
            <a:off x="667512" y="2542032"/>
            <a:ext cx="17190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Past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2487168" y="2542032"/>
            <a:ext cx="10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67085"/>
                </a:solidFill>
              </a:rPr>
              <a:t>→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2624328" y="2331720"/>
            <a:ext cx="1865376" cy="713232"/>
          </a:xfrm>
          <a:prstGeom prst="roundRect">
            <a:avLst>
              <a:gd name="adj" fmla="val 10256"/>
            </a:avLst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1"/>
          <p:cNvSpPr/>
          <p:nvPr/>
        </p:nvSpPr>
        <p:spPr>
          <a:xfrm>
            <a:off x="2697480" y="2542032"/>
            <a:ext cx="17190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Current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517136" y="2542032"/>
            <a:ext cx="10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67085"/>
                </a:solidFill>
              </a:rPr>
              <a:t>→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4654296" y="2331720"/>
            <a:ext cx="1865376" cy="713232"/>
          </a:xfrm>
          <a:prstGeom prst="roundRect">
            <a:avLst>
              <a:gd name="adj" fmla="val 10256"/>
            </a:avLst>
          </a:prstGeom>
          <a:solidFill>
            <a:srgbClr val="E45745"/>
          </a:solidFill>
          <a:ln w="12700">
            <a:solidFill>
              <a:srgbClr val="E4574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6" name="Text 14"/>
          <p:cNvSpPr/>
          <p:nvPr/>
        </p:nvSpPr>
        <p:spPr>
          <a:xfrm>
            <a:off x="4727448" y="2542032"/>
            <a:ext cx="17190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Redo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547104" y="2542032"/>
            <a:ext cx="10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67085"/>
                </a:solidFill>
              </a:rPr>
              <a:t>→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6684264" y="2331720"/>
            <a:ext cx="1865376" cy="713232"/>
          </a:xfrm>
          <a:prstGeom prst="roundRect">
            <a:avLst>
              <a:gd name="adj" fmla="val 10256"/>
            </a:avLst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" name="Text 17"/>
          <p:cNvSpPr/>
          <p:nvPr/>
        </p:nvSpPr>
        <p:spPr>
          <a:xfrm>
            <a:off x="6757416" y="2542032"/>
            <a:ext cx="17190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New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822960" y="3474720"/>
            <a:ext cx="7406640" cy="12344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r>
              <a:rPr lang="en-US" sz="1650" dirty="0">
                <a:solidFill>
                  <a:srgbClr val="17212B"/>
                </a:solidFill>
              </a:rPr>
              <a:t>Undo: 현재 명령을 되돌리고 왼쪽으로 이동한다.</a:t>
            </a:r>
            <a:endParaRPr lang="en-US" sz="1650" dirty="0"/>
          </a:p>
          <a:p>
            <a:r>
              <a:rPr lang="en-US" sz="1650" dirty="0">
                <a:solidFill>
                  <a:srgbClr val="17212B"/>
                </a:solidFill>
              </a:rPr>
              <a:t>Redo: 오른쪽으로 이동한 뒤 다시 Execute한다.</a:t>
            </a:r>
            <a:endParaRPr lang="en-US" sz="16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FBF7EF"/>
          </a:solidFill>
          <a:ln w="12700">
            <a:solidFill>
              <a:srgbClr val="FBF7E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8016" cy="571500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/>
          <p:cNvSpPr/>
          <p:nvPr/>
        </p:nvSpPr>
        <p:spPr>
          <a:xfrm>
            <a:off x="8549640" y="5358384"/>
            <a:ext cx="320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A79F94"/>
                </a:solidFill>
              </a:rPr>
              <a:t>23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502920" y="329184"/>
            <a:ext cx="8138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500" b="1" dirty="0">
                <a:solidFill>
                  <a:srgbClr val="17212B"/>
                </a:solidFill>
              </a:rPr>
              <a:t>Replay는 Undo와 다르다</a:t>
            </a:r>
            <a:endParaRPr lang="en-US" sz="2500" dirty="0"/>
          </a:p>
        </p:txBody>
      </p:sp>
      <p:sp>
        <p:nvSpPr>
          <p:cNvPr id="6" name="Text 4"/>
          <p:cNvSpPr/>
          <p:nvPr/>
        </p:nvSpPr>
        <p:spPr>
          <a:xfrm>
            <a:off x="502920" y="5321808"/>
            <a:ext cx="5303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9A9187"/>
                </a:solidFill>
              </a:rPr>
              <a:t>Game Programming Patterns - Command | Unity/C# 수업용 재구성</a:t>
            </a:r>
            <a:endParaRPr lang="en-US" sz="700" dirty="0"/>
          </a:p>
        </p:txBody>
      </p:sp>
      <p:sp>
        <p:nvSpPr>
          <p:cNvPr id="7" name="Text 5"/>
          <p:cNvSpPr/>
          <p:nvPr/>
        </p:nvSpPr>
        <p:spPr>
          <a:xfrm>
            <a:off x="685800" y="1417320"/>
            <a:ext cx="7680960" cy="10515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3000" b="1" dirty="0">
                <a:solidFill>
                  <a:srgbClr val="F59E0B"/>
                </a:solidFill>
              </a:rPr>
              <a:t>Replay는 되돌리기가 아니라, 같은 명령을 다시 흘려보내는 것이다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822960" y="2788920"/>
            <a:ext cx="7452360" cy="17830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r>
              <a:rPr lang="en-US" sz="1900" dirty="0">
                <a:solidFill>
                  <a:srgbClr val="17212B"/>
                </a:solidFill>
              </a:rPr>
              <a:t>Undo는 이전 상태를 기억한다.</a:t>
            </a:r>
            <a:endParaRPr lang="en-US" sz="1900" dirty="0"/>
          </a:p>
          <a:p>
            <a:r>
              <a:rPr lang="en-US" sz="1900" dirty="0">
                <a:solidFill>
                  <a:srgbClr val="17212B"/>
                </a:solidFill>
              </a:rPr>
              <a:t>Replay는 시간 순서의 Command 로그를 다시 실행한다.</a:t>
            </a:r>
            <a:endParaRPr lang="en-US" sz="1900" dirty="0"/>
          </a:p>
          <a:p>
            <a:r>
              <a:rPr lang="en-US" sz="1900" dirty="0">
                <a:solidFill>
                  <a:srgbClr val="17212B"/>
                </a:solidFill>
              </a:rPr>
              <a:t>영상 녹화보다 가볍지만 시뮬레이션 일관성이 중요하다.</a:t>
            </a:r>
            <a:endParaRPr lang="en-US" sz="1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FBF7EF"/>
          </a:solidFill>
          <a:ln w="12700">
            <a:solidFill>
              <a:srgbClr val="FBF7E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8016" cy="571500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/>
          <p:cNvSpPr/>
          <p:nvPr/>
        </p:nvSpPr>
        <p:spPr>
          <a:xfrm>
            <a:off x="8549640" y="5358384"/>
            <a:ext cx="320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A79F94"/>
                </a:solidFill>
              </a:rPr>
              <a:t>24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502920" y="329184"/>
            <a:ext cx="8138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500" b="1" dirty="0">
                <a:solidFill>
                  <a:srgbClr val="17212B"/>
                </a:solidFill>
              </a:rPr>
              <a:t>클래스만 정답일까?</a:t>
            </a:r>
            <a:endParaRPr lang="en-US" sz="2500" dirty="0"/>
          </a:p>
        </p:txBody>
      </p:sp>
      <p:sp>
        <p:nvSpPr>
          <p:cNvPr id="6" name="Text 4"/>
          <p:cNvSpPr/>
          <p:nvPr/>
        </p:nvSpPr>
        <p:spPr>
          <a:xfrm>
            <a:off x="502920" y="5321808"/>
            <a:ext cx="5303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9A9187"/>
                </a:solidFill>
              </a:rPr>
              <a:t>Game Programming Patterns - Command | Unity/C# 수업용 재구성</a:t>
            </a:r>
            <a:endParaRPr lang="en-US" sz="700" dirty="0"/>
          </a:p>
        </p:txBody>
      </p:sp>
      <p:sp>
        <p:nvSpPr>
          <p:cNvPr id="7" name="Text 5"/>
          <p:cNvSpPr/>
          <p:nvPr/>
        </p:nvSpPr>
        <p:spPr>
          <a:xfrm>
            <a:off x="685800" y="1417320"/>
            <a:ext cx="7680960" cy="10515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3000" b="1" dirty="0">
                <a:solidFill>
                  <a:srgbClr val="2563EB"/>
                </a:solidFill>
              </a:rPr>
              <a:t>C#에서는 람다와 Action도 작은 Command처럼 쓸 수 있다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822960" y="2788920"/>
            <a:ext cx="7452360" cy="17830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r>
              <a:rPr lang="en-US" sz="1900" dirty="0">
                <a:solidFill>
                  <a:srgbClr val="17212B"/>
                </a:solidFill>
              </a:rPr>
              <a:t>간단한 UI 동작은 Action으로 충분할 수 있다.</a:t>
            </a:r>
            <a:endParaRPr lang="en-US" sz="1900" dirty="0"/>
          </a:p>
          <a:p>
            <a:r>
              <a:rPr lang="en-US" sz="1900" dirty="0">
                <a:solidFill>
                  <a:srgbClr val="17212B"/>
                </a:solidFill>
              </a:rPr>
              <a:t>Undo, 직렬화, 디버깅, 기록이 필요하면 명시적 클래스가 좋다.</a:t>
            </a:r>
            <a:endParaRPr lang="en-US" sz="1900" dirty="0"/>
          </a:p>
          <a:p>
            <a:r>
              <a:rPr lang="en-US" sz="1900" dirty="0">
                <a:solidFill>
                  <a:srgbClr val="17212B"/>
                </a:solidFill>
              </a:rPr>
              <a:t>팀에서는 '콜백'과 '게임 상태 변경 명령'을 구분하는 규칙이 필요하다.</a:t>
            </a:r>
            <a:endParaRPr lang="en-US" sz="1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FBF7EF"/>
          </a:solidFill>
          <a:ln w="12700">
            <a:solidFill>
              <a:srgbClr val="FBF7E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8016" cy="571500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/>
          <p:cNvSpPr/>
          <p:nvPr/>
        </p:nvSpPr>
        <p:spPr>
          <a:xfrm>
            <a:off x="8549640" y="5358384"/>
            <a:ext cx="320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A79F94"/>
                </a:solidFill>
              </a:rPr>
              <a:t>25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502920" y="329184"/>
            <a:ext cx="8138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500" b="1" dirty="0">
                <a:solidFill>
                  <a:srgbClr val="17212B"/>
                </a:solidFill>
              </a:rPr>
              <a:t>ActionCommand 예시</a:t>
            </a:r>
            <a:endParaRPr lang="en-US" sz="2500" dirty="0"/>
          </a:p>
        </p:txBody>
      </p:sp>
      <p:sp>
        <p:nvSpPr>
          <p:cNvPr id="6" name="Text 4"/>
          <p:cNvSpPr/>
          <p:nvPr/>
        </p:nvSpPr>
        <p:spPr>
          <a:xfrm>
            <a:off x="521208" y="804672"/>
            <a:ext cx="7772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50" dirty="0">
                <a:solidFill>
                  <a:srgbClr val="667085"/>
                </a:solidFill>
              </a:rPr>
              <a:t>간단한 UI 행동에 적합하다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502920" y="5321808"/>
            <a:ext cx="5303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9A9187"/>
                </a:solidFill>
              </a:rPr>
              <a:t>Game Programming Patterns - Command | Unity/C# 수업용 재구성</a:t>
            </a:r>
            <a:endParaRPr lang="en-US" sz="700" dirty="0"/>
          </a:p>
        </p:txBody>
      </p:sp>
      <p:sp>
        <p:nvSpPr>
          <p:cNvPr id="8" name="Text 6"/>
          <p:cNvSpPr/>
          <p:nvPr/>
        </p:nvSpPr>
        <p:spPr>
          <a:xfrm>
            <a:off x="658368" y="1133856"/>
            <a:ext cx="7680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600" b="1" dirty="0">
                <a:solidFill>
                  <a:srgbClr val="0F766E"/>
                </a:solidFill>
              </a:rPr>
              <a:t>함수를 객체로 감싸는 얇은 어댑터다.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658368" y="1600200"/>
            <a:ext cx="8092440" cy="3401568"/>
          </a:xfrm>
          <a:prstGeom prst="roundRect">
            <a:avLst>
              <a:gd name="adj" fmla="val 2151"/>
            </a:avLst>
          </a:prstGeom>
          <a:solidFill>
            <a:srgbClr val="101827"/>
          </a:solidFill>
          <a:ln w="12700">
            <a:solidFill>
              <a:srgbClr val="2A344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Text 8"/>
          <p:cNvSpPr/>
          <p:nvPr/>
        </p:nvSpPr>
        <p:spPr>
          <a:xfrm>
            <a:off x="859536" y="1764792"/>
            <a:ext cx="7690104" cy="30723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buNone/>
            </a:pPr>
            <a:r>
              <a:rPr lang="en-US" sz="122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public sealed class ActionCommand : ICommand</a:t>
            </a:r>
            <a:endParaRPr lang="en-US" sz="1220" dirty="0"/>
          </a:p>
          <a:p>
            <a:pPr marL="0" indent="0">
              <a:buNone/>
            </a:pPr>
            <a:r>
              <a:rPr lang="en-US" sz="122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220" dirty="0"/>
          </a:p>
          <a:p>
            <a:pPr marL="0" indent="0">
              <a:buNone/>
            </a:pPr>
            <a:r>
              <a:rPr lang="en-US" sz="122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private readonly Action action;</a:t>
            </a:r>
            <a:endParaRPr lang="en-US" sz="1220" dirty="0"/>
          </a:p>
          <a:p>
            <a:pPr marL="0" indent="0">
              <a:buNone/>
            </a:pPr>
            <a:endParaRPr lang="en-US" sz="1220" dirty="0"/>
          </a:p>
          <a:p>
            <a:pPr marL="0" indent="0">
              <a:buNone/>
            </a:pPr>
            <a:r>
              <a:rPr lang="en-US" sz="122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public ActionCommand(Action action)</a:t>
            </a:r>
            <a:endParaRPr lang="en-US" sz="1220" dirty="0"/>
          </a:p>
          <a:p>
            <a:pPr marL="0" indent="0">
              <a:buNone/>
            </a:pPr>
            <a:r>
              <a:rPr lang="en-US" sz="122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{</a:t>
            </a:r>
            <a:endParaRPr lang="en-US" sz="1220" dirty="0"/>
          </a:p>
          <a:p>
            <a:pPr marL="0" indent="0">
              <a:buNone/>
            </a:pPr>
            <a:r>
              <a:rPr lang="en-US" sz="122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this.action = action;</a:t>
            </a:r>
            <a:endParaRPr lang="en-US" sz="1220" dirty="0"/>
          </a:p>
          <a:p>
            <a:pPr marL="0" indent="0">
              <a:buNone/>
            </a:pPr>
            <a:r>
              <a:rPr lang="en-US" sz="122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}</a:t>
            </a:r>
            <a:endParaRPr lang="en-US" sz="1220" dirty="0"/>
          </a:p>
          <a:p>
            <a:pPr marL="0" indent="0">
              <a:buNone/>
            </a:pPr>
            <a:endParaRPr lang="en-US" sz="1220" dirty="0"/>
          </a:p>
          <a:p>
            <a:pPr marL="0" indent="0">
              <a:buNone/>
            </a:pPr>
            <a:r>
              <a:rPr lang="en-US" sz="122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public void Execute() =&gt; action?.Invoke();</a:t>
            </a:r>
            <a:endParaRPr lang="en-US" sz="1220" dirty="0"/>
          </a:p>
          <a:p>
            <a:pPr marL="0" indent="0">
              <a:buNone/>
            </a:pPr>
            <a:r>
              <a:rPr lang="en-US" sz="122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22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FBF7EF"/>
          </a:solidFill>
          <a:ln w="12700">
            <a:solidFill>
              <a:srgbClr val="FBF7E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8016" cy="571500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/>
          <p:cNvSpPr/>
          <p:nvPr/>
        </p:nvSpPr>
        <p:spPr>
          <a:xfrm>
            <a:off x="8549640" y="5358384"/>
            <a:ext cx="320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A79F94"/>
                </a:solidFill>
              </a:rPr>
              <a:t>27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502920" y="329184"/>
            <a:ext cx="8138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500" b="1" dirty="0">
                <a:solidFill>
                  <a:srgbClr val="17212B"/>
                </a:solidFill>
              </a:rPr>
              <a:t>Command를 쓰면 좋은 신호</a:t>
            </a:r>
            <a:endParaRPr lang="en-US" sz="2500" dirty="0"/>
          </a:p>
        </p:txBody>
      </p:sp>
      <p:sp>
        <p:nvSpPr>
          <p:cNvPr id="6" name="Text 4"/>
          <p:cNvSpPr/>
          <p:nvPr/>
        </p:nvSpPr>
        <p:spPr>
          <a:xfrm>
            <a:off x="521208" y="804672"/>
            <a:ext cx="7772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50" dirty="0">
                <a:solidFill>
                  <a:srgbClr val="667085"/>
                </a:solidFill>
              </a:rPr>
              <a:t>패턴은 필요할 때만 꺼낸다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502920" y="5321808"/>
            <a:ext cx="5303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9A9187"/>
                </a:solidFill>
              </a:rPr>
              <a:t>Game Programming Patterns - Command | Unity/C# 수업용 재구성</a:t>
            </a:r>
            <a:endParaRPr lang="en-US" sz="700" dirty="0"/>
          </a:p>
        </p:txBody>
      </p:sp>
      <p:sp>
        <p:nvSpPr>
          <p:cNvPr id="8" name="Text 6"/>
          <p:cNvSpPr/>
          <p:nvPr/>
        </p:nvSpPr>
        <p:spPr>
          <a:xfrm>
            <a:off x="777240" y="1371600"/>
            <a:ext cx="7543800" cy="34747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r>
              <a:rPr lang="en-US" sz="2000" dirty="0">
                <a:solidFill>
                  <a:srgbClr val="17212B"/>
                </a:solidFill>
              </a:rPr>
              <a:t>행동을 나중에 실행하거나 취소해야 한다.</a:t>
            </a:r>
            <a:endParaRPr lang="en-US" sz="2000" dirty="0"/>
          </a:p>
          <a:p>
            <a:r>
              <a:rPr lang="en-US" sz="2000" dirty="0">
                <a:solidFill>
                  <a:srgbClr val="17212B"/>
                </a:solidFill>
              </a:rPr>
              <a:t>입력, AI, 네트워크, UI가 같은 행동 인터페이스를 써야 한다.</a:t>
            </a:r>
            <a:endParaRPr lang="en-US" sz="2000" dirty="0"/>
          </a:p>
          <a:p>
            <a:r>
              <a:rPr lang="en-US" sz="2000" dirty="0">
                <a:solidFill>
                  <a:srgbClr val="17212B"/>
                </a:solidFill>
              </a:rPr>
              <a:t>키 바인딩이나 단축키를 런타임에 바꿔야 한다.</a:t>
            </a:r>
            <a:endParaRPr lang="en-US" sz="2000" dirty="0"/>
          </a:p>
          <a:p>
            <a:r>
              <a:rPr lang="en-US" sz="2000" dirty="0">
                <a:solidFill>
                  <a:srgbClr val="17212B"/>
                </a:solidFill>
              </a:rPr>
              <a:t>게임 상태 변경을 로그로 남기거나 재현하고 싶다.</a:t>
            </a:r>
            <a:endParaRPr lang="en-US" sz="20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FBF7EF"/>
          </a:solidFill>
          <a:ln w="12700">
            <a:solidFill>
              <a:srgbClr val="FBF7E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8016" cy="571500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/>
          <p:cNvSpPr/>
          <p:nvPr/>
        </p:nvSpPr>
        <p:spPr>
          <a:xfrm>
            <a:off x="8549640" y="5358384"/>
            <a:ext cx="320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A79F94"/>
                </a:solidFill>
              </a:rPr>
              <a:t>28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502920" y="329184"/>
            <a:ext cx="8138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500" b="1" dirty="0">
                <a:solidFill>
                  <a:srgbClr val="17212B"/>
                </a:solidFill>
              </a:rPr>
              <a:t>주의할 점</a:t>
            </a:r>
            <a:endParaRPr lang="en-US" sz="2500" dirty="0"/>
          </a:p>
        </p:txBody>
      </p:sp>
      <p:sp>
        <p:nvSpPr>
          <p:cNvPr id="6" name="Text 4"/>
          <p:cNvSpPr/>
          <p:nvPr/>
        </p:nvSpPr>
        <p:spPr>
          <a:xfrm>
            <a:off x="521208" y="804672"/>
            <a:ext cx="7772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50" dirty="0">
                <a:solidFill>
                  <a:srgbClr val="667085"/>
                </a:solidFill>
              </a:rPr>
              <a:t>결합은 줄지만 규칙과 파일은 늘어난다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502920" y="5321808"/>
            <a:ext cx="5303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9A9187"/>
                </a:solidFill>
              </a:rPr>
              <a:t>Game Programming Patterns - Command | Unity/C# 수업용 재구성</a:t>
            </a:r>
            <a:endParaRPr lang="en-US" sz="700" dirty="0"/>
          </a:p>
        </p:txBody>
      </p:sp>
      <p:sp>
        <p:nvSpPr>
          <p:cNvPr id="8" name="Text 6"/>
          <p:cNvSpPr/>
          <p:nvPr/>
        </p:nvSpPr>
        <p:spPr>
          <a:xfrm>
            <a:off x="777240" y="1371600"/>
            <a:ext cx="7543800" cy="34747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r>
              <a:rPr lang="en-US" sz="2000" dirty="0">
                <a:solidFill>
                  <a:srgbClr val="17212B"/>
                </a:solidFill>
              </a:rPr>
              <a:t>명령 클래스가 너무 많아지면 네이밍과 파일 관리가 부담된다.</a:t>
            </a:r>
            <a:endParaRPr lang="en-US" sz="2000" dirty="0"/>
          </a:p>
          <a:p>
            <a:r>
              <a:rPr lang="en-US" sz="2000" dirty="0">
                <a:solidFill>
                  <a:srgbClr val="17212B"/>
                </a:solidFill>
              </a:rPr>
              <a:t>Undo 명령은 Execute 전에 이전 상태를 반드시 저장해야 한다.</a:t>
            </a:r>
            <a:endParaRPr lang="en-US" sz="2000" dirty="0"/>
          </a:p>
          <a:p>
            <a:r>
              <a:rPr lang="en-US" sz="2000" dirty="0">
                <a:solidFill>
                  <a:srgbClr val="17212B"/>
                </a:solidFill>
              </a:rPr>
              <a:t>Command 밖에서 상태를 몰래 바꾸면 히스토리가 깨진다.</a:t>
            </a:r>
            <a:endParaRPr lang="en-US" sz="2000" dirty="0"/>
          </a:p>
          <a:p>
            <a:r>
              <a:rPr lang="en-US" sz="2000" dirty="0">
                <a:solidFill>
                  <a:srgbClr val="17212B"/>
                </a:solidFill>
              </a:rPr>
              <a:t>저장/리플레이용 Command는 오브젝트 참조보다 ID가 안전하다.</a:t>
            </a:r>
            <a:endParaRPr lang="en-US" sz="2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FBF7EF"/>
          </a:solidFill>
          <a:ln w="12700">
            <a:solidFill>
              <a:srgbClr val="FBF7E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8016" cy="571500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/>
          <p:cNvSpPr/>
          <p:nvPr/>
        </p:nvSpPr>
        <p:spPr>
          <a:xfrm>
            <a:off x="8549640" y="5358384"/>
            <a:ext cx="320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A79F94"/>
                </a:solidFill>
              </a:rPr>
              <a:t>29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502920" y="329184"/>
            <a:ext cx="8138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500" b="1" dirty="0">
                <a:solidFill>
                  <a:srgbClr val="17212B"/>
                </a:solidFill>
              </a:rPr>
              <a:t>Unity 실습 아키텍처</a:t>
            </a:r>
            <a:endParaRPr lang="en-US" sz="2500" dirty="0"/>
          </a:p>
        </p:txBody>
      </p:sp>
      <p:sp>
        <p:nvSpPr>
          <p:cNvPr id="6" name="Text 4"/>
          <p:cNvSpPr/>
          <p:nvPr/>
        </p:nvSpPr>
        <p:spPr>
          <a:xfrm>
            <a:off x="521208" y="804672"/>
            <a:ext cx="7772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50" dirty="0">
                <a:solidFill>
                  <a:srgbClr val="667085"/>
                </a:solidFill>
              </a:rPr>
              <a:t>격자 이동 게임으로 패턴을 완성한다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502920" y="5321808"/>
            <a:ext cx="5303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9A9187"/>
                </a:solidFill>
              </a:rPr>
              <a:t>Game Programming Patterns - Command | Unity/C# 수업용 재구성</a:t>
            </a:r>
            <a:endParaRPr lang="en-US" sz="700" dirty="0"/>
          </a:p>
        </p:txBody>
      </p:sp>
      <p:sp>
        <p:nvSpPr>
          <p:cNvPr id="8" name="Text 6"/>
          <p:cNvSpPr/>
          <p:nvPr/>
        </p:nvSpPr>
        <p:spPr>
          <a:xfrm>
            <a:off x="713232" y="1325880"/>
            <a:ext cx="7589520" cy="6217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900" b="1" dirty="0">
                <a:solidFill>
                  <a:srgbClr val="17212B"/>
                </a:solidFill>
              </a:rPr>
              <a:t>방향키는 이동 명령을 만들고, Z/Y는 Undo/Redo를 호출한다.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594360" y="2331720"/>
            <a:ext cx="1865376" cy="713232"/>
          </a:xfrm>
          <a:prstGeom prst="roundRect">
            <a:avLst>
              <a:gd name="adj" fmla="val 10256"/>
            </a:avLst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Text 8"/>
          <p:cNvSpPr/>
          <p:nvPr/>
        </p:nvSpPr>
        <p:spPr>
          <a:xfrm>
            <a:off x="667512" y="2542032"/>
            <a:ext cx="17190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InputReader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2487168" y="2542032"/>
            <a:ext cx="10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67085"/>
                </a:solidFill>
              </a:rPr>
              <a:t>→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2624328" y="2331720"/>
            <a:ext cx="1865376" cy="713232"/>
          </a:xfrm>
          <a:prstGeom prst="roundRect">
            <a:avLst>
              <a:gd name="adj" fmla="val 10256"/>
            </a:avLst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1"/>
          <p:cNvSpPr/>
          <p:nvPr/>
        </p:nvSpPr>
        <p:spPr>
          <a:xfrm>
            <a:off x="2697480" y="2542032"/>
            <a:ext cx="17190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MoveCommand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517136" y="2542032"/>
            <a:ext cx="10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67085"/>
                </a:solidFill>
              </a:rPr>
              <a:t>→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4654296" y="2331720"/>
            <a:ext cx="1865376" cy="713232"/>
          </a:xfrm>
          <a:prstGeom prst="roundRect">
            <a:avLst>
              <a:gd name="adj" fmla="val 10256"/>
            </a:avLst>
          </a:prstGeom>
          <a:solidFill>
            <a:srgbClr val="E45745"/>
          </a:solidFill>
          <a:ln w="12700">
            <a:solidFill>
              <a:srgbClr val="E4574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6" name="Text 14"/>
          <p:cNvSpPr/>
          <p:nvPr/>
        </p:nvSpPr>
        <p:spPr>
          <a:xfrm>
            <a:off x="4727448" y="2542032"/>
            <a:ext cx="17190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History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547104" y="2542032"/>
            <a:ext cx="10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67085"/>
                </a:solidFill>
              </a:rPr>
              <a:t>→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6684264" y="2331720"/>
            <a:ext cx="1865376" cy="713232"/>
          </a:xfrm>
          <a:prstGeom prst="roundRect">
            <a:avLst>
              <a:gd name="adj" fmla="val 10256"/>
            </a:avLst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" name="Text 17"/>
          <p:cNvSpPr/>
          <p:nvPr/>
        </p:nvSpPr>
        <p:spPr>
          <a:xfrm>
            <a:off x="6757416" y="2542032"/>
            <a:ext cx="17190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GridUnit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822960" y="3474720"/>
            <a:ext cx="7406640" cy="12344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r>
              <a:rPr lang="en-US" sz="1650" dirty="0">
                <a:solidFill>
                  <a:srgbClr val="17212B"/>
                </a:solidFill>
              </a:rPr>
              <a:t>입력 코드는 MoveTo를 직접 부르지 않는다.</a:t>
            </a:r>
            <a:endParaRPr lang="en-US" sz="1650" dirty="0"/>
          </a:p>
          <a:p>
            <a:r>
              <a:rPr lang="en-US" sz="1650" dirty="0">
                <a:solidFill>
                  <a:srgbClr val="17212B"/>
                </a:solidFill>
              </a:rPr>
              <a:t>모든 이동은 CommandHistory.Execute를 통과한다.</a:t>
            </a:r>
            <a:endParaRPr lang="en-US" sz="16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FBF7EF"/>
          </a:solidFill>
          <a:ln w="12700">
            <a:solidFill>
              <a:srgbClr val="FBF7E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8016" cy="5715000"/>
          </a:xfrm>
          <a:prstGeom prst="rect">
            <a:avLst/>
          </a:prstGeom>
          <a:solidFill>
            <a:srgbClr val="E45745"/>
          </a:solidFill>
          <a:ln w="12700">
            <a:solidFill>
              <a:srgbClr val="E4574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/>
          <p:cNvSpPr/>
          <p:nvPr/>
        </p:nvSpPr>
        <p:spPr>
          <a:xfrm>
            <a:off x="8549640" y="5358384"/>
            <a:ext cx="320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A79F94"/>
                </a:solidFill>
              </a:rPr>
              <a:t>30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502920" y="329184"/>
            <a:ext cx="8138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500" b="1" dirty="0">
                <a:solidFill>
                  <a:srgbClr val="17212B"/>
                </a:solidFill>
              </a:rPr>
              <a:t>실습 문제</a:t>
            </a:r>
            <a:endParaRPr lang="en-US" sz="2500" dirty="0"/>
          </a:p>
        </p:txBody>
      </p:sp>
      <p:sp>
        <p:nvSpPr>
          <p:cNvPr id="6" name="Text 4"/>
          <p:cNvSpPr/>
          <p:nvPr/>
        </p:nvSpPr>
        <p:spPr>
          <a:xfrm>
            <a:off x="521208" y="804672"/>
            <a:ext cx="7772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50" dirty="0">
                <a:solidFill>
                  <a:srgbClr val="667085"/>
                </a:solidFill>
              </a:rPr>
              <a:t>Git으로 받은 Unity 프로젝트에서 완성하기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502920" y="5321808"/>
            <a:ext cx="5303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9A9187"/>
                </a:solidFill>
              </a:rPr>
              <a:t>Game Programming Patterns - Command | Unity/C# 수업용 재구성</a:t>
            </a:r>
            <a:endParaRPr lang="en-US" sz="700" dirty="0"/>
          </a:p>
        </p:txBody>
      </p:sp>
      <p:sp>
        <p:nvSpPr>
          <p:cNvPr id="8" name="Shape 6"/>
          <p:cNvSpPr/>
          <p:nvPr/>
        </p:nvSpPr>
        <p:spPr>
          <a:xfrm>
            <a:off x="658368" y="1207008"/>
            <a:ext cx="1051560" cy="310896"/>
          </a:xfrm>
          <a:prstGeom prst="roundRect">
            <a:avLst>
              <a:gd name="adj" fmla="val 23529"/>
            </a:avLst>
          </a:prstGeom>
          <a:solidFill>
            <a:srgbClr val="E45745"/>
          </a:solidFill>
          <a:ln w="12700">
            <a:solidFill>
              <a:srgbClr val="E4574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Text 7"/>
          <p:cNvSpPr/>
          <p:nvPr/>
        </p:nvSpPr>
        <p:spPr>
          <a:xfrm>
            <a:off x="713232" y="1298448"/>
            <a:ext cx="941832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</a:rPr>
              <a:t>TASK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786384" y="1737360"/>
            <a:ext cx="7315200" cy="31546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r>
              <a:rPr lang="en-US" sz="1750" dirty="0">
                <a:solidFill>
                  <a:srgbClr val="17212B"/>
                </a:solidFill>
              </a:rPr>
              <a:t>`02차시_CommandPattern/실습파일/CommandPatternUnityPractice`를 Unity Hub에서 연다.</a:t>
            </a:r>
            <a:endParaRPr lang="en-US" sz="1750" dirty="0"/>
          </a:p>
          <a:p>
            <a:r>
              <a:rPr lang="en-US" sz="1750" dirty="0">
                <a:solidFill>
                  <a:srgbClr val="17212B"/>
                </a:solidFill>
              </a:rPr>
              <a:t>`MoveUnitCommand`의 Execute와 Undo를 완성한다.</a:t>
            </a:r>
            <a:endParaRPr lang="en-US" sz="1750" dirty="0"/>
          </a:p>
          <a:p>
            <a:r>
              <a:rPr lang="en-US" sz="1750" dirty="0">
                <a:solidFill>
                  <a:srgbClr val="17212B"/>
                </a:solidFill>
              </a:rPr>
              <a:t>`CommandHistory`의 Execute, Undo, Redo를 완성한다.</a:t>
            </a:r>
            <a:endParaRPr lang="en-US" sz="1750" dirty="0"/>
          </a:p>
          <a:p>
            <a:r>
              <a:rPr lang="en-US" sz="1750" dirty="0">
                <a:solidFill>
                  <a:srgbClr val="17212B"/>
                </a:solidFill>
              </a:rPr>
              <a:t>`PlayerInputReader`가 방향키 입력으로 MoveUnitCommand를 만들게 한다.</a:t>
            </a:r>
            <a:endParaRPr lang="en-US" sz="1750" dirty="0"/>
          </a:p>
          <a:p>
            <a:r>
              <a:rPr lang="en-US" sz="1750" dirty="0">
                <a:solidFill>
                  <a:srgbClr val="17212B"/>
                </a:solidFill>
              </a:rPr>
              <a:t>`Z`: Undo, `Y`: Redo, `R`: Reset을 확인한다.</a:t>
            </a:r>
            <a:endParaRPr lang="en-US" sz="17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FBF7EF"/>
          </a:solidFill>
          <a:ln w="12700">
            <a:solidFill>
              <a:srgbClr val="FBF7E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8016" cy="571500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/>
          <p:cNvSpPr/>
          <p:nvPr/>
        </p:nvSpPr>
        <p:spPr>
          <a:xfrm>
            <a:off x="8549640" y="5358384"/>
            <a:ext cx="320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A79F94"/>
                </a:solidFill>
              </a:rPr>
              <a:t>32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502920" y="329184"/>
            <a:ext cx="8138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500" b="1" dirty="0">
                <a:solidFill>
                  <a:srgbClr val="17212B"/>
                </a:solidFill>
              </a:rPr>
              <a:t>학생 TODO 1-4</a:t>
            </a:r>
            <a:endParaRPr lang="en-US" sz="2500" dirty="0"/>
          </a:p>
        </p:txBody>
      </p:sp>
      <p:sp>
        <p:nvSpPr>
          <p:cNvPr id="6" name="Text 4"/>
          <p:cNvSpPr/>
          <p:nvPr/>
        </p:nvSpPr>
        <p:spPr>
          <a:xfrm>
            <a:off x="521208" y="804672"/>
            <a:ext cx="7772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50" dirty="0">
                <a:solidFill>
                  <a:srgbClr val="667085"/>
                </a:solidFill>
              </a:rPr>
              <a:t>Command 객체 완성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502920" y="5321808"/>
            <a:ext cx="5303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9A9187"/>
                </a:solidFill>
              </a:rPr>
              <a:t>Game Programming Patterns - Command | Unity/C# 수업용 재구성</a:t>
            </a:r>
            <a:endParaRPr lang="en-US" sz="700" dirty="0"/>
          </a:p>
        </p:txBody>
      </p:sp>
      <p:sp>
        <p:nvSpPr>
          <p:cNvPr id="8" name="Shape 6"/>
          <p:cNvSpPr/>
          <p:nvPr/>
        </p:nvSpPr>
        <p:spPr>
          <a:xfrm>
            <a:off x="658368" y="1207008"/>
            <a:ext cx="1051560" cy="310896"/>
          </a:xfrm>
          <a:prstGeom prst="roundRect">
            <a:avLst>
              <a:gd name="adj" fmla="val 23529"/>
            </a:avLst>
          </a:prstGeom>
          <a:solidFill>
            <a:srgbClr val="E45745"/>
          </a:solidFill>
          <a:ln w="12700">
            <a:solidFill>
              <a:srgbClr val="E4574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Text 7"/>
          <p:cNvSpPr/>
          <p:nvPr/>
        </p:nvSpPr>
        <p:spPr>
          <a:xfrm>
            <a:off x="713232" y="1298448"/>
            <a:ext cx="941832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</a:rPr>
              <a:t>TODO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786384" y="1737360"/>
            <a:ext cx="7315200" cy="31546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r>
              <a:rPr lang="en-US" sz="1750" dirty="0">
                <a:solidFill>
                  <a:srgbClr val="17212B"/>
                </a:solidFill>
              </a:rPr>
              <a:t>`Execute()`에서 이동 전 `GridPosition`을 `before`에 저장한다.</a:t>
            </a:r>
            <a:endParaRPr lang="en-US" sz="1750" dirty="0"/>
          </a:p>
          <a:p>
            <a:r>
              <a:rPr lang="en-US" sz="1750" dirty="0">
                <a:solidFill>
                  <a:srgbClr val="17212B"/>
                </a:solidFill>
              </a:rPr>
              <a:t>`Execute()`에서 목적지로 `MoveTo(destination)`을 호출한다.</a:t>
            </a:r>
            <a:endParaRPr lang="en-US" sz="1750" dirty="0"/>
          </a:p>
          <a:p>
            <a:r>
              <a:rPr lang="en-US" sz="1750" dirty="0">
                <a:solidFill>
                  <a:srgbClr val="17212B"/>
                </a:solidFill>
              </a:rPr>
              <a:t>`Undo()`에서 `MoveTo(before)`로 되돌린다.</a:t>
            </a:r>
            <a:endParaRPr lang="en-US" sz="1750" dirty="0"/>
          </a:p>
          <a:p>
            <a:r>
              <a:rPr lang="en-US" sz="1750" dirty="0">
                <a:solidFill>
                  <a:srgbClr val="17212B"/>
                </a:solidFill>
              </a:rPr>
              <a:t>직접 호출 대신 Command를 통해 상태가 바뀌는지 확인한다.</a:t>
            </a:r>
            <a:endParaRPr lang="en-US" sz="175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FBF7EF"/>
          </a:solidFill>
          <a:ln w="12700">
            <a:solidFill>
              <a:srgbClr val="FBF7E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8016" cy="571500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/>
          <p:cNvSpPr/>
          <p:nvPr/>
        </p:nvSpPr>
        <p:spPr>
          <a:xfrm>
            <a:off x="8549640" y="5358384"/>
            <a:ext cx="320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A79F94"/>
                </a:solidFill>
              </a:rPr>
              <a:t>33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502920" y="329184"/>
            <a:ext cx="8138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500" b="1" dirty="0">
                <a:solidFill>
                  <a:srgbClr val="17212B"/>
                </a:solidFill>
              </a:rPr>
              <a:t>학생 TODO 5-8</a:t>
            </a:r>
            <a:endParaRPr lang="en-US" sz="2500" dirty="0"/>
          </a:p>
        </p:txBody>
      </p:sp>
      <p:sp>
        <p:nvSpPr>
          <p:cNvPr id="6" name="Text 4"/>
          <p:cNvSpPr/>
          <p:nvPr/>
        </p:nvSpPr>
        <p:spPr>
          <a:xfrm>
            <a:off x="521208" y="804672"/>
            <a:ext cx="7772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50" dirty="0">
                <a:solidFill>
                  <a:srgbClr val="667085"/>
                </a:solidFill>
              </a:rPr>
              <a:t>히스토리와 입력 연결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502920" y="5321808"/>
            <a:ext cx="5303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9A9187"/>
                </a:solidFill>
              </a:rPr>
              <a:t>Game Programming Patterns - Command | Unity/C# 수업용 재구성</a:t>
            </a:r>
            <a:endParaRPr lang="en-US" sz="700" dirty="0"/>
          </a:p>
        </p:txBody>
      </p:sp>
      <p:sp>
        <p:nvSpPr>
          <p:cNvPr id="8" name="Shape 6"/>
          <p:cNvSpPr/>
          <p:nvPr/>
        </p:nvSpPr>
        <p:spPr>
          <a:xfrm>
            <a:off x="658368" y="1207008"/>
            <a:ext cx="1051560" cy="310896"/>
          </a:xfrm>
          <a:prstGeom prst="roundRect">
            <a:avLst>
              <a:gd name="adj" fmla="val 23529"/>
            </a:avLst>
          </a:prstGeom>
          <a:solidFill>
            <a:srgbClr val="E45745"/>
          </a:solidFill>
          <a:ln w="12700">
            <a:solidFill>
              <a:srgbClr val="E4574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Text 7"/>
          <p:cNvSpPr/>
          <p:nvPr/>
        </p:nvSpPr>
        <p:spPr>
          <a:xfrm>
            <a:off x="713232" y="1298448"/>
            <a:ext cx="941832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</a:rPr>
              <a:t>TODO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786384" y="1737360"/>
            <a:ext cx="7315200" cy="31546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r>
              <a:rPr lang="en-US" sz="1750" dirty="0">
                <a:solidFill>
                  <a:srgbClr val="17212B"/>
                </a:solidFill>
              </a:rPr>
              <a:t>`Execute()`에서 Redo 후보를 삭제하고 새 명령을 저장한다.</a:t>
            </a:r>
            <a:endParaRPr lang="en-US" sz="1750" dirty="0"/>
          </a:p>
          <a:p>
            <a:r>
              <a:rPr lang="en-US" sz="1750" dirty="0">
                <a:solidFill>
                  <a:srgbClr val="17212B"/>
                </a:solidFill>
              </a:rPr>
              <a:t>`Undo()`와 `Redo()`의 범위 체크를 구현한다.</a:t>
            </a:r>
            <a:endParaRPr lang="en-US" sz="1750" dirty="0"/>
          </a:p>
          <a:p>
            <a:r>
              <a:rPr lang="en-US" sz="1750" dirty="0">
                <a:solidFill>
                  <a:srgbClr val="17212B"/>
                </a:solidFill>
              </a:rPr>
              <a:t>`PlayerInputReader`에서 방향키 입력을 Command로 변환한다.</a:t>
            </a:r>
            <a:endParaRPr lang="en-US" sz="1750" dirty="0"/>
          </a:p>
          <a:p>
            <a:r>
              <a:rPr lang="en-US" sz="1750" dirty="0">
                <a:solidFill>
                  <a:srgbClr val="17212B"/>
                </a:solidFill>
              </a:rPr>
              <a:t>Undo 후 새 이동을 하면 Redo가 사라지는지 확인한다.</a:t>
            </a:r>
            <a:endParaRPr lang="en-US" sz="175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FBF7EF"/>
          </a:solidFill>
          <a:ln w="12700">
            <a:solidFill>
              <a:srgbClr val="FBF7E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8016" cy="5715000"/>
          </a:xfrm>
          <a:prstGeom prst="rect">
            <a:avLst/>
          </a:prstGeom>
          <a:solidFill>
            <a:srgbClr val="E45745"/>
          </a:solidFill>
          <a:ln w="12700">
            <a:solidFill>
              <a:srgbClr val="E4574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/>
          <p:cNvSpPr/>
          <p:nvPr/>
        </p:nvSpPr>
        <p:spPr>
          <a:xfrm>
            <a:off x="8549640" y="5358384"/>
            <a:ext cx="320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A79F94"/>
                </a:solidFill>
              </a:rPr>
              <a:t>34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502920" y="329184"/>
            <a:ext cx="8138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500" b="1" dirty="0">
                <a:solidFill>
                  <a:srgbClr val="17212B"/>
                </a:solidFill>
              </a:rPr>
              <a:t>채점 기준</a:t>
            </a:r>
            <a:endParaRPr lang="en-US" sz="2500" dirty="0"/>
          </a:p>
        </p:txBody>
      </p:sp>
      <p:sp>
        <p:nvSpPr>
          <p:cNvPr id="6" name="Text 4"/>
          <p:cNvSpPr/>
          <p:nvPr/>
        </p:nvSpPr>
        <p:spPr>
          <a:xfrm>
            <a:off x="521208" y="804672"/>
            <a:ext cx="7772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50" dirty="0">
                <a:solidFill>
                  <a:srgbClr val="667085"/>
                </a:solidFill>
              </a:rPr>
              <a:t>기능보다 구조를 먼저 본다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502920" y="5321808"/>
            <a:ext cx="5303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9A9187"/>
                </a:solidFill>
              </a:rPr>
              <a:t>Game Programming Patterns - Command | Unity/C# 수업용 재구성</a:t>
            </a:r>
            <a:endParaRPr lang="en-US" sz="700" dirty="0"/>
          </a:p>
        </p:txBody>
      </p:sp>
      <p:sp>
        <p:nvSpPr>
          <p:cNvPr id="8" name="Shape 6"/>
          <p:cNvSpPr/>
          <p:nvPr/>
        </p:nvSpPr>
        <p:spPr>
          <a:xfrm>
            <a:off x="658368" y="1207008"/>
            <a:ext cx="1051560" cy="310896"/>
          </a:xfrm>
          <a:prstGeom prst="roundRect">
            <a:avLst>
              <a:gd name="adj" fmla="val 23529"/>
            </a:avLst>
          </a:prstGeom>
          <a:solidFill>
            <a:srgbClr val="E45745"/>
          </a:solidFill>
          <a:ln w="12700">
            <a:solidFill>
              <a:srgbClr val="E4574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Text 7"/>
          <p:cNvSpPr/>
          <p:nvPr/>
        </p:nvSpPr>
        <p:spPr>
          <a:xfrm>
            <a:off x="713232" y="1298448"/>
            <a:ext cx="941832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</a:rPr>
              <a:t>PASS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786384" y="1737360"/>
            <a:ext cx="7315200" cy="31546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r>
              <a:rPr lang="en-US" sz="1750" dirty="0">
                <a:solidFill>
                  <a:srgbClr val="17212B"/>
                </a:solidFill>
              </a:rPr>
              <a:t>방향키 이동, Undo, Redo가 정상 동작한다.</a:t>
            </a:r>
            <a:endParaRPr lang="en-US" sz="1750" dirty="0"/>
          </a:p>
          <a:p>
            <a:r>
              <a:rPr lang="en-US" sz="1750" dirty="0">
                <a:solidFill>
                  <a:srgbClr val="17212B"/>
                </a:solidFill>
              </a:rPr>
              <a:t>입력 코드에 `unit.MoveTo()` 직접 호출이 남아 있지 않다.</a:t>
            </a:r>
            <a:endParaRPr lang="en-US" sz="1750" dirty="0"/>
          </a:p>
          <a:p>
            <a:r>
              <a:rPr lang="en-US" sz="1750" dirty="0">
                <a:solidFill>
                  <a:srgbClr val="17212B"/>
                </a:solidFill>
              </a:rPr>
              <a:t>Undo 후 새 이동을 하면 Redo 후보가 사라진다.</a:t>
            </a:r>
            <a:endParaRPr lang="en-US" sz="1750" dirty="0"/>
          </a:p>
          <a:p>
            <a:r>
              <a:rPr lang="en-US" sz="1750" dirty="0">
                <a:solidFill>
                  <a:srgbClr val="17212B"/>
                </a:solidFill>
              </a:rPr>
              <a:t>InputReader, Command, History, Unit 책임이 분리되어 있다.</a:t>
            </a:r>
            <a:endParaRPr lang="en-US" sz="175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FBF7EF"/>
          </a:solidFill>
          <a:ln w="12700">
            <a:solidFill>
              <a:srgbClr val="FBF7E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8016" cy="571500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/>
          <p:cNvSpPr/>
          <p:nvPr/>
        </p:nvSpPr>
        <p:spPr>
          <a:xfrm>
            <a:off x="8549640" y="5358384"/>
            <a:ext cx="320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A79F94"/>
                </a:solidFill>
              </a:rPr>
              <a:t>35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502920" y="329184"/>
            <a:ext cx="8138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500" b="1" dirty="0">
                <a:solidFill>
                  <a:srgbClr val="17212B"/>
                </a:solidFill>
              </a:rPr>
              <a:t>확장 과제</a:t>
            </a:r>
            <a:endParaRPr lang="en-US" sz="2500" dirty="0"/>
          </a:p>
        </p:txBody>
      </p:sp>
      <p:sp>
        <p:nvSpPr>
          <p:cNvPr id="6" name="Text 4"/>
          <p:cNvSpPr/>
          <p:nvPr/>
        </p:nvSpPr>
        <p:spPr>
          <a:xfrm>
            <a:off x="521208" y="804672"/>
            <a:ext cx="7772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50" dirty="0">
                <a:solidFill>
                  <a:srgbClr val="667085"/>
                </a:solidFill>
              </a:rPr>
              <a:t>Command가 강력해지는 지점 체험하기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502920" y="5321808"/>
            <a:ext cx="5303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9A9187"/>
                </a:solidFill>
              </a:rPr>
              <a:t>Game Programming Patterns - Command | Unity/C# 수업용 재구성</a:t>
            </a:r>
            <a:endParaRPr lang="en-US" sz="700" dirty="0"/>
          </a:p>
        </p:txBody>
      </p:sp>
      <p:sp>
        <p:nvSpPr>
          <p:cNvPr id="8" name="Shape 6"/>
          <p:cNvSpPr/>
          <p:nvPr/>
        </p:nvSpPr>
        <p:spPr>
          <a:xfrm>
            <a:off x="658368" y="1207008"/>
            <a:ext cx="1051560" cy="310896"/>
          </a:xfrm>
          <a:prstGeom prst="roundRect">
            <a:avLst>
              <a:gd name="adj" fmla="val 23529"/>
            </a:avLst>
          </a:prstGeom>
          <a:solidFill>
            <a:srgbClr val="E45745"/>
          </a:solidFill>
          <a:ln w="12700">
            <a:solidFill>
              <a:srgbClr val="E4574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Text 7"/>
          <p:cNvSpPr/>
          <p:nvPr/>
        </p:nvSpPr>
        <p:spPr>
          <a:xfrm>
            <a:off x="713232" y="1298448"/>
            <a:ext cx="941832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</a:rPr>
              <a:t>PLUS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786384" y="1737360"/>
            <a:ext cx="7315200" cy="31546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r>
              <a:rPr lang="en-US" sz="1750" dirty="0">
                <a:solidFill>
                  <a:srgbClr val="17212B"/>
                </a:solidFill>
              </a:rPr>
              <a:t>대각선 이동 또는 공격 Command 추가</a:t>
            </a:r>
            <a:endParaRPr lang="en-US" sz="1750" dirty="0"/>
          </a:p>
          <a:p>
            <a:r>
              <a:rPr lang="en-US" sz="1750" dirty="0">
                <a:solidFill>
                  <a:srgbClr val="17212B"/>
                </a:solidFill>
              </a:rPr>
              <a:t>Command 로그 저장 후 Replay 구현</a:t>
            </a:r>
            <a:endParaRPr lang="en-US" sz="1750" dirty="0"/>
          </a:p>
          <a:p>
            <a:r>
              <a:rPr lang="en-US" sz="1750" dirty="0">
                <a:solidFill>
                  <a:srgbClr val="17212B"/>
                </a:solidFill>
              </a:rPr>
              <a:t>WASD 키 바인딩 추가</a:t>
            </a:r>
            <a:endParaRPr lang="en-US" sz="1750" dirty="0"/>
          </a:p>
          <a:p>
            <a:r>
              <a:rPr lang="en-US" sz="1750" dirty="0">
                <a:solidFill>
                  <a:srgbClr val="17212B"/>
                </a:solidFill>
              </a:rPr>
              <a:t>AI가 랜덤 Command를 생성하게 만들기</a:t>
            </a:r>
            <a:endParaRPr lang="en-US" sz="1750" dirty="0"/>
          </a:p>
          <a:p>
            <a:r>
              <a:rPr lang="en-US" sz="1750" dirty="0">
                <a:solidFill>
                  <a:srgbClr val="17212B"/>
                </a:solidFill>
              </a:rPr>
              <a:t>이동 불가능한 칸을 만들고 실패 명령은 히스토리에 넣지 않기</a:t>
            </a:r>
            <a:endParaRPr lang="en-US" sz="175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FBF7EF"/>
          </a:solidFill>
          <a:ln w="12700">
            <a:solidFill>
              <a:srgbClr val="FBF7E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8016" cy="571500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/>
          <p:cNvSpPr/>
          <p:nvPr/>
        </p:nvSpPr>
        <p:spPr>
          <a:xfrm>
            <a:off x="8549640" y="5358384"/>
            <a:ext cx="320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A79F94"/>
                </a:solidFill>
              </a:rPr>
              <a:t>36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502920" y="329184"/>
            <a:ext cx="8138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500" b="1" dirty="0">
                <a:solidFill>
                  <a:srgbClr val="17212B"/>
                </a:solidFill>
              </a:rPr>
              <a:t>마무리</a:t>
            </a:r>
            <a:endParaRPr lang="en-US" sz="2500" dirty="0"/>
          </a:p>
        </p:txBody>
      </p:sp>
      <p:sp>
        <p:nvSpPr>
          <p:cNvPr id="6" name="Text 4"/>
          <p:cNvSpPr/>
          <p:nvPr/>
        </p:nvSpPr>
        <p:spPr>
          <a:xfrm>
            <a:off x="502920" y="5321808"/>
            <a:ext cx="5303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9A9187"/>
                </a:solidFill>
              </a:rPr>
              <a:t>Game Programming Patterns - Command | Unity/C# 수업용 재구성</a:t>
            </a:r>
            <a:endParaRPr lang="en-US" sz="700" dirty="0"/>
          </a:p>
        </p:txBody>
      </p:sp>
      <p:sp>
        <p:nvSpPr>
          <p:cNvPr id="7" name="Text 5"/>
          <p:cNvSpPr/>
          <p:nvPr/>
        </p:nvSpPr>
        <p:spPr>
          <a:xfrm>
            <a:off x="685800" y="1417320"/>
            <a:ext cx="7680960" cy="10515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3000" b="1" dirty="0">
                <a:solidFill>
                  <a:srgbClr val="0F766E"/>
                </a:solidFill>
              </a:rPr>
              <a:t>Command는 '지금 이 함수를 불러라'를 '이 일을 나타내는 객체'로 바꾼다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822960" y="2788920"/>
            <a:ext cx="7452360" cy="17830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r>
              <a:rPr lang="en-US" sz="1900" dirty="0">
                <a:solidFill>
                  <a:srgbClr val="17212B"/>
                </a:solidFill>
              </a:rPr>
              <a:t>객체가 되면 저장, 교체, 전송, 취소, 재실행이 가능하다.</a:t>
            </a:r>
            <a:endParaRPr lang="en-US" sz="1900" dirty="0"/>
          </a:p>
          <a:p>
            <a:r>
              <a:rPr lang="en-US" sz="1900" dirty="0">
                <a:solidFill>
                  <a:srgbClr val="17212B"/>
                </a:solidFill>
              </a:rPr>
              <a:t>입력 매핑은 입구이고 Undo/Replay는 강력한 응용이다.</a:t>
            </a:r>
            <a:endParaRPr lang="en-US" sz="1900" dirty="0"/>
          </a:p>
          <a:p>
            <a:r>
              <a:rPr lang="en-US" sz="1900" dirty="0">
                <a:solidFill>
                  <a:srgbClr val="17212B"/>
                </a:solidFill>
              </a:rPr>
              <a:t>Unity에서는 상태 변경을 CommandHistory로 통제하는 연습이 중요하다.</a:t>
            </a:r>
            <a:endParaRPr lang="en-US" sz="1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algun 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algun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</TotalTime>
  <Words>2982</Words>
  <Application>Microsoft Office PowerPoint</Application>
  <PresentationFormat>화면 슬라이드 쇼(16:10)</PresentationFormat>
  <Paragraphs>466</Paragraphs>
  <Slides>34</Slides>
  <Notes>34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34</vt:i4>
      </vt:variant>
    </vt:vector>
  </HeadingPairs>
  <TitlesOfParts>
    <vt:vector size="37" baseType="lpstr">
      <vt:lpstr>Arial</vt:lpstr>
      <vt:lpstr>Consolas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경기게임마이스터고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유니티 프로그래밍 패턴 2차시 - Command Pattern</dc:title>
  <dc:subject>Game Programming Patterns - Command Pattern</dc:subject>
  <dc:creator>Codex</dc:creator>
  <cp:lastModifiedBy>재흠 나</cp:lastModifiedBy>
  <cp:revision>4</cp:revision>
  <dcterms:created xsi:type="dcterms:W3CDTF">2026-05-10T23:44:07Z</dcterms:created>
  <dcterms:modified xsi:type="dcterms:W3CDTF">2026-05-11T00:02:27Z</dcterms:modified>
</cp:coreProperties>
</file>