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9144000" cy="5715000" type="screen16x1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10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오늘은</a:t>
            </a:r>
            <a:r>
              <a:rPr lang="en-US" altLang="ko-KR"/>
              <a:t>Flyweight</a:t>
            </a:r>
            <a:r>
              <a:rPr lang="ko-KR" altLang="en-US"/>
              <a:t>패턴을</a:t>
            </a:r>
            <a:r>
              <a:rPr lang="en-US" altLang="ko-KR"/>
              <a:t>Unity</a:t>
            </a:r>
            <a:r>
              <a:rPr lang="ko-KR" altLang="en-US"/>
              <a:t>와</a:t>
            </a:r>
            <a:r>
              <a:rPr lang="en-US" altLang="ko-KR"/>
              <a:t>C#</a:t>
            </a:r>
            <a:r>
              <a:rPr lang="ko-KR" altLang="en-US"/>
              <a:t>관점에서 다룬다</a:t>
            </a:r>
            <a:r>
              <a:rPr lang="en-US" altLang="ko-KR"/>
              <a:t>.</a:t>
            </a:r>
            <a:r>
              <a:rPr lang="ko-KR" altLang="en-US"/>
              <a:t>핵심은 많은 객체가 반복해서 갖는 큰 데이터를 공유하고</a:t>
            </a:r>
            <a:r>
              <a:rPr lang="en-US" altLang="ko-KR"/>
              <a:t>,</a:t>
            </a:r>
            <a:r>
              <a:rPr lang="ko-KR" altLang="en-US"/>
              <a:t>개별 객체에는 위치와 색 같은 작은 상태만 남기는 것이다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수업 흐름은 공유 데이터와 개별 상태 분리, Unity 지형 예제, 장단점, 실습 순서입니다.</a:t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r>
              <a:rPr lang="ko-KR" altLang="en-US"/>
              <a:t/>
            </a:r>
            <a:r>
              <a:rPr lang="en-US" altLang="ko-KR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장대한 숲을 예시로 시작한다. 실제 게임에서는 수천 개의 나무를 렌더링해야 하므로 데이터 중복이 문제가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예제의 Tree 클래스 예시를 C#으로 바꾸었다. 큰 데이터인 Mesh와 Texture가 각 객체 안에 들어가면 중복이 커진다.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Flyweight의 출발점은 반복되는 큰 데이터와 개별 데이터가 섞여 있다는 사실을 보는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예제에서는</a:t>
            </a:r>
            <a:r>
              <a:rPr lang="en-US" altLang="ko-KR"/>
              <a:t>TreeModel</a:t>
            </a:r>
            <a:r>
              <a:rPr lang="ko-KR" altLang="en-US"/>
              <a:t>에</a:t>
            </a:r>
            <a:r>
              <a:rPr lang="en-US" altLang="ko-KR"/>
              <a:t>mesh, bark texture, leaf texture</a:t>
            </a:r>
            <a:r>
              <a:rPr lang="ko-KR" altLang="en-US"/>
              <a:t>를 담는다</a:t>
            </a:r>
            <a:r>
              <a:rPr lang="en-US" altLang="ko-KR"/>
              <a:t>. Unity</a:t>
            </a:r>
            <a:r>
              <a:rPr lang="ko-KR" altLang="en-US"/>
              <a:t>에서는</a:t>
            </a:r>
            <a:r>
              <a:rPr lang="en-US" altLang="ko-KR"/>
              <a:t>Mesh</a:t>
            </a:r>
            <a:r>
              <a:rPr lang="ko-KR" altLang="en-US"/>
              <a:t>와</a:t>
            </a:r>
            <a:r>
              <a:rPr lang="en-US" altLang="ko-KR"/>
              <a:t>Material</a:t>
            </a:r>
            <a:r>
              <a:rPr lang="ko-KR" altLang="en-US"/>
              <a:t>로 표현하면 자연스럽다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TreeInstance는 공유 TreeModel 참조와 위치, 높이, 색만 가진다.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예제의 그림은 여러 나무가 하나의 Model을 공유하는 구조를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Flyweight와 Type Object가 비슷해 보이지만 의도가 다르다고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예제에서는</a:t>
            </a:r>
            <a:r>
              <a:rPr lang="en-US"/>
              <a:t>Direct3D</a:t>
            </a:r>
            <a:r>
              <a:rPr lang="ko-KR" altLang="en-US"/>
              <a:t>와</a:t>
            </a:r>
            <a:r>
              <a:rPr lang="en-US"/>
              <a:t>OpenGL</a:t>
            </a:r>
            <a:r>
              <a:rPr lang="ko-KR" altLang="en-US"/>
              <a:t>의</a:t>
            </a:r>
            <a:r>
              <a:rPr lang="en-US"/>
              <a:t>instanced rendering</a:t>
            </a:r>
            <a:r>
              <a:rPr lang="ko-KR" altLang="en-US"/>
              <a:t>을 언급한다</a:t>
            </a:r>
            <a:r>
              <a:rPr lang="en-US" altLang="ko-KR"/>
              <a:t>.</a:t>
            </a:r>
            <a:r>
              <a:rPr lang="en-US"/>
              <a:t>Unity</a:t>
            </a:r>
            <a:r>
              <a:rPr lang="ko-KR" altLang="en-US"/>
              <a:t>에서도</a:t>
            </a:r>
            <a:r>
              <a:rPr lang="en-US"/>
              <a:t>GPU Instancing</a:t>
            </a:r>
            <a:r>
              <a:rPr lang="ko-KR" altLang="en-US"/>
              <a:t>과</a:t>
            </a:r>
            <a:r>
              <a:rPr lang="en-US"/>
              <a:t>Graphics.DrawMeshInstanced</a:t>
            </a:r>
            <a:r>
              <a:rPr lang="ko-KR" altLang="en-US"/>
              <a:t>가 같은 개념을 따른다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</a:t>
            </a:r>
            <a:r>
              <a:rPr lang="en-US" altLang="ko-KR"/>
              <a:t>Unity</a:t>
            </a:r>
            <a:r>
              <a:rPr lang="ko-KR" altLang="en-US"/>
              <a:t>프로젝트에서는 배치 크기</a:t>
            </a:r>
            <a:r>
              <a:rPr lang="en-US" altLang="ko-KR"/>
              <a:t>,</a:t>
            </a:r>
            <a:r>
              <a:rPr lang="ko-KR" altLang="en-US"/>
              <a:t>머티리얼 설정</a:t>
            </a:r>
            <a:r>
              <a:rPr lang="en-US" altLang="ko-KR"/>
              <a:t>, SRP Batcher</a:t>
            </a:r>
            <a:r>
              <a:rPr lang="ko-KR" altLang="en-US"/>
              <a:t>등 추가로 고려할 사항이 있지만</a:t>
            </a:r>
            <a:r>
              <a:rPr lang="en-US" altLang="ko-KR"/>
              <a:t>,</a:t>
            </a:r>
            <a:r>
              <a:rPr lang="ko-KR" altLang="en-US"/>
              <a:t>수업에서는 핵심 구조만 보여준다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context-free 상태를 intrinsic state로 설명하고, 인스턴스마다 다른 값을 extrinsic state로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학생에게 Flyweight 판단 기준을 연습시키는 슬라이드다.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예제에서는</a:t>
            </a:r>
            <a:r>
              <a:rPr lang="en-US" altLang="ko-KR"/>
              <a:t>Terrain</a:t>
            </a:r>
            <a:r>
              <a:rPr lang="ko-KR" altLang="en-US"/>
              <a:t>의 메서드가</a:t>
            </a:r>
            <a:r>
              <a:rPr lang="en-US" altLang="ko-KR"/>
              <a:t>const</a:t>
            </a:r>
            <a:r>
              <a:rPr lang="ko-KR" altLang="en-US"/>
              <a:t>라는 점을 들어 공유 객체를 함부로 변경하면 안 된다고 강조한다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나무 다음으로 지형 타일 예시를 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enum으로 지형 타입을 저장하고 switch로 movement cost와 water 여부를 반환하는 방식을 먼저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예제에서는 이 방식이 동작은 하지만 보기 좋지 않다고 설명한다</a:t>
            </a:r>
            <a:r>
              <a:rPr lang="en-US" altLang="ko-KR"/>
              <a:t>.</a:t>
            </a:r>
            <a:r>
              <a:rPr lang="ko-KR" altLang="en-US"/>
              <a:t>객체가 본래 제공해야 할 캡슐화를 잃기 때문이다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예제의</a:t>
            </a:r>
            <a:r>
              <a:rPr lang="en-US" altLang="ko-KR"/>
              <a:t>Terrain</a:t>
            </a:r>
            <a:r>
              <a:rPr lang="ko-KR" altLang="en-US"/>
              <a:t>클래스를</a:t>
            </a:r>
            <a:r>
              <a:rPr lang="en-US" altLang="ko-KR"/>
              <a:t>C#</a:t>
            </a:r>
            <a:r>
              <a:rPr lang="ko-KR" altLang="en-US"/>
              <a:t>으로 옮긴다</a:t>
            </a:r>
            <a:r>
              <a:rPr lang="en-US" altLang="ko-KR"/>
              <a:t>.</a:t>
            </a:r>
            <a:r>
              <a:rPr lang="ko-KR" altLang="en-US"/>
              <a:t>모든 프로퍼티는 읽기 전용이다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예제에서는 Terrain* tiles_[WIDTH][HEIGHT] 구조를 사용한다. C#에서는 2차원 배열에 TerrainType 참조를 저장한다.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예제에서는 초원으로 채우고 군데군데 언덕을 배치한 뒤 강을 그리는 간단한 생성 예시를 보여준다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예제에서는 포인터가</a:t>
            </a:r>
            <a:r>
              <a:rPr lang="en-US" altLang="ko-KR"/>
              <a:t>enum</a:t>
            </a:r>
            <a:r>
              <a:rPr lang="ko-KR" altLang="en-US"/>
              <a:t>보다 크게 무겁지 않으면서 객체지향</a:t>
            </a:r>
            <a:r>
              <a:rPr lang="en-US" altLang="ko-KR"/>
              <a:t>API</a:t>
            </a:r>
            <a:r>
              <a:rPr lang="ko-KR" altLang="en-US"/>
              <a:t>를 되살린다고 설명한다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Unity에서는 ScriptableObject가 flyweight 역할을 하기 좋다. 여러 타일이 같은 TerrainTypeAsset을 참조한다.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개발에서 이미 많은 리소스가 flyweight처럼 동작한다.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What About Performance 절이다. Flyweight가 항상 빠르다고 단정하지 않고 프로파일링을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 적용 기준을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Flyweight의 대표적인 실수는 공유 객체에 개별 상태를 넣는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See Also를 수업용으로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실습은</a:t>
            </a:r>
            <a:r>
              <a:rPr lang="en-US" altLang="ko-KR"/>
              <a:t>ScriptableObject</a:t>
            </a:r>
            <a:r>
              <a:rPr lang="ko-KR" altLang="en-US"/>
              <a:t>없이</a:t>
            </a:r>
            <a:r>
              <a:rPr lang="en-US" altLang="ko-KR"/>
              <a:t>C#</a:t>
            </a:r>
            <a:r>
              <a:rPr lang="ko-KR" altLang="en-US"/>
              <a:t>객체만으로도 할 수 있고</a:t>
            </a:r>
            <a:r>
              <a:rPr lang="en-US" altLang="ko-KR"/>
              <a:t>,</a:t>
            </a:r>
            <a:r>
              <a:rPr lang="ko-KR" altLang="en-US"/>
              <a:t>확장 과제에서</a:t>
            </a:r>
            <a:r>
              <a:rPr lang="en-US" altLang="ko-KR"/>
              <a:t>ScriptableObject</a:t>
            </a:r>
            <a:r>
              <a:rPr lang="ko-KR" altLang="en-US"/>
              <a:t>기반으로 바꿀 수 있다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실습 과제 명세다.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구현 단계다.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구현 단계다.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기능과 구조를 함께 평가한다.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빠른 학생을 위한 확장 과제다.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마지막에는 intrinsic/extrinsic state 구분을 다시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13232"/>
            <a:ext cx="914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Pattern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2487168"/>
            <a:ext cx="1693926" cy="658368"/>
          </a:xfrm>
          <a:prstGeom prst="roundRect">
            <a:avLst>
              <a:gd name="adj" fmla="val 8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688336"/>
            <a:ext cx="1547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Shared Data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2544318" y="26974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81478" y="2487168"/>
            <a:ext cx="169392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54630" y="2688336"/>
            <a:ext cx="1547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Many Instances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4402836" y="26974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39996" y="2487168"/>
            <a:ext cx="169392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3148" y="2688336"/>
            <a:ext cx="1547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Memory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6261354" y="2697480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98514" y="2487168"/>
            <a:ext cx="169392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1666" y="2688336"/>
            <a:ext cx="15476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 Draw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45389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53312"/>
            <a:ext cx="7360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altLang="ko-KR" sz="17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</a:t>
            </a:r>
            <a:r>
              <a:rPr lang="ko-KR" altLang="en-US" sz="17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altLang="ko-KR" sz="17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7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가능한 공통 상태를 분리하는 패턴</a:t>
            </a:r>
            <a:r>
              <a:rPr lang="en-US" altLang="ko-KR" sz="17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17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설명한다</a:t>
            </a:r>
            <a:r>
              <a:rPr lang="en-US" altLang="ko-KR" sz="17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2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02536"/>
            <a:ext cx="7360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intrinsic state와 extrinsic state를 구분한다.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22960" y="27523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51760"/>
            <a:ext cx="7360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C#에서 공유 모델과 개별 인스턴스를 분리해 구현한다.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822960" y="340156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00984"/>
            <a:ext cx="73609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Mesh, Material, ScriptableObject를 공유하는 구조를 이해한다.</a:t>
            </a:r>
            <a:endParaRPr lang="en-US" sz="1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출발점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숲을 만들고 싶은데, 나무 하나하나가 너무 무겁다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나무가 Mesh, Texture, 위치, 크기, 색을 모두 가진다.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개의 나무가 있으면 메모리와 렌더링 비용이 커진다.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대부분의 나무는 같은 모델과 텍스처를 공유할 수 있다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시작</a:t>
            </a: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나무가 모든 데이터를 가진다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Mesh와 Texture가 나무마다 복사된다고 생각해보자.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Tree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Mesh Mesh;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Texture2D Bark;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Texture2D Leaves;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Vector3 Position;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Height;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Color LeafTint;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개의 나무가 있어도, 대부분 같은 모델과 텍스처를 쓴다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데이터는 한 번만 저장해도 된다.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나무에는 위치, 크기, 색처럼 달라지는 값만 남긴다.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객체를 둘로 나누면 중복이 줄어든다.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데이터: TreeModel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55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나무가 함께 쓰는 데이터를 한 곳에 모은다</a:t>
            </a:r>
            <a:r>
              <a:rPr lang="en-US" altLang="ko-KR" sz="155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TreeModel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Mesh Mesh { get; }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Material BarkMaterial { get; }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Material LeafMaterial { get; }</a:t>
            </a:r>
            <a:endParaRPr lang="en-US" sz="1170" dirty="0"/>
          </a:p>
          <a:p>
            <a:pPr marL="0" indent="0">
              <a:buNone/>
            </a:pP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TreeModel(Mesh mesh, Material bark, Material leaf)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 = mesh;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BarkMaterial = bark;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LeafMaterial = leaf;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데이터: TreeInstance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나무마다 다른 값만 남긴다.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TreeInstance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TreeModel Model { get; }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Vector3 Position { get; }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Height { get; }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Color LeafTint { get; }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TreeInstance(TreeModel model, Vector3 position,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height, Color leafTint)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= position;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height;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LeafTint = leafTint;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구조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큰 모델을 여러 인스턴스가 가리킨다.</a:t>
            </a:r>
            <a:endParaRPr lang="en-US" sz="182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TreeModel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Tree A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Tree B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Tree C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altLang="ko-KR" sz="15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TreeModel: Mesh, Material</a:t>
            </a:r>
            <a:r>
              <a:rPr lang="ko-KR" altLang="en-US" sz="15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무겁고 공통으로 쓰는 데이터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TreeInstance: Position, Scale, Tint처럼 가볍고 개별적인 데이터</a:t>
            </a:r>
            <a:endParaRPr lang="en-US" sz="15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Object와 비슷하지만 목적이 다르다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04672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Object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59536" y="194767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47088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수를 줄이기 위해 타입을 데이터로 만든다.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59536" y="273405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633472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유연성이 주목적이다.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59536" y="3520440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419856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4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공유는 부수적인 효과에 가깝다</a:t>
            </a:r>
            <a:r>
              <a:rPr lang="en-US" altLang="ko-KR" sz="14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4855464" y="194767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1847088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 객체의 중복 데이터를 줄인다.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4855464" y="273405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633472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4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효율이 주목적이다</a:t>
            </a:r>
            <a:r>
              <a:rPr lang="en-US" altLang="ko-KR" sz="14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4855464" y="352044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3419856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상태는 거의 불변이어야 한다.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인스턴싱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모델은 한 번, 인스턴스 값은 여러 번 보낸다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Mesh와 Material은 공통 스트림으로 보낸다.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위치, 회전, 색, 스케일은 인스턴스 스트림으로 보낸다.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Draw Call로 많은 나무를 그릴 수 있다.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</a:t>
            </a: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인스턴싱 구현하기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Mesh를 여러 행렬로 그린다.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DrawTrees(Mesh mesh, Material material,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Matrix4x4[] transforms)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Graphics.DrawMeshInstanced(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material,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패턴의 일반적인 정의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Flyweight는 객체의 상태를 두 종류로 나눈다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Intrinsic state: 특정 인스턴스에 묶이지 않는 공통 데이터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Extrinsic state: 위치, 색, 스케일처럼 인스턴스마다 다른 데이터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데이터 한 세트를 여러 인스턴스가 공유한다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Intrinsic vs Extrinsic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공유하고 무엇을 남길지 구분하는 것이 핵심이다.</a:t>
            </a:r>
            <a:endParaRPr lang="en-US" sz="182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Texture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Tint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22960" y="362102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5204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Mesh, Texture: 공통이므로 공유한다.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7822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77640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altLang="ko-KR" sz="15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Position, Tint:</a:t>
            </a:r>
            <a:r>
              <a:rPr lang="ko-KR" altLang="en-US" sz="15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인스턴스마다 다르므로 따로 보관한다</a:t>
            </a:r>
            <a:r>
              <a:rPr lang="en-US" altLang="ko-KR" sz="15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불변성이 중요한 이유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45389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53312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객체를 수정하면, 그 객체를 쓰는 모든 인스턴스가 동시에 바뀐다.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822960" y="211226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11680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객체는 대부분 불변으로 설계한다.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822960" y="27706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70048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Unity에서는 공유 Material을 직접 수정하면 모든 오브젝트가 바뀔 수 있다.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28416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색이 필요하면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MaterialPropertyBlock</a:t>
            </a: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다른 방법을 고려한다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예시: 타일 지형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ko-KR" altLang="en-US" sz="3000" b="1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맵을 타일로 구성하면</a:t>
            </a:r>
            <a:r>
              <a:rPr lang="en-US" altLang="ko-KR" sz="3000" b="1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3000" b="1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타일마다 반복 데이터가 많아진다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초원, 언덕, 강 같은 지형 타입이 반복된다.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타입은 이동 비용, 물 여부, 텍스처를 가진다.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타일마다 이 데이터를 복사하면 낭비가 생긴다.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enum과 switch 방식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효율적이지만 데이터가 코드 곳곳에 흩어진다.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TerrainKind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Grass,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Hill,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River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GetMovementCost(TerrainKind kind)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kind switch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TerrainKind.Grass =&gt; 1,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TerrainKind.Hill =&gt; 3,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TerrainKind.River =&gt; 2,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 =&gt; 1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 방식의 불편함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ko-KR" altLang="en-US" sz="3000" b="1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지형에 대한 데이터가 여러 메서드에 흩어져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비용은 한 switch에 있다.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 여부는 다른 switch에 있다.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텍스처도 또 다른 곳에서 따로 관리되기 쉽다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459943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49884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하나의 의미가 코드 여러 군데에 흩어진다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Terrain을 객체로 만들기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지형의 데이터를 한 객체에 모은다.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TerrainType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MovementCost { get;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IsWater { get;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Sprite Sprite { get; 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TerrainType(int movementCost,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isWater,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 sprite)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MovementCost = movementCost;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IsWater = isWater;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 = sprite;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World는 TerrainType 참조를 저장한다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타일마다 객체를 새로 만들지 않고 공유 객체를 가리킨다.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WorldGrid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TerrainType[,] tiles;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TerrainType grass;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TerrainType hill;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 TerrainType river;</a:t>
            </a:r>
            <a:endParaRPr lang="en-US" sz="1220" dirty="0"/>
          </a:p>
          <a:p>
            <a:pPr marL="0" indent="0">
              <a:buNone/>
            </a:pP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TerrainType GetTile(int x, int y)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tiles[x, y];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생성 예시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칸이 같은 TerrainType 객체를 공유한다.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x = 0; x &lt; width; x++)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y = 0; y &lt; height; y++)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tiles[x, y] = Random.value &lt; 0.1f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hill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grass;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riverX = Random.Range(0, width);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y = 0; y &lt; height; y++)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tiles[riverX, y] = river;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객체지향</a:t>
            </a: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되살린다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참조만 저장하면서도, 지형은 객체처럼 사용할 수 있다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`world.GetTile(x, y).MovementCost`처럼 읽을 수 있다.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0215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World는 지형의 세부 규칙을 switch로 알 필요가 없다.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05079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</a:t>
            </a: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개 정도의 가벼운 비용으로 객체지향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얻는다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</a:t>
            </a: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에서는</a:t>
            </a: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</a:t>
            </a: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활용이 자연스럽다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13232" y="1115568"/>
            <a:ext cx="7498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지형 타입을 에셋으로 만들면 디자이너가 조정할 수 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7909560" cy="3520440"/>
          </a:xfrm>
          <a:prstGeom prst="roundRect">
            <a:avLst>
              <a:gd name="adj" fmla="val 1558"/>
            </a:avLst>
          </a:prstGeom>
          <a:solidFill>
            <a:srgbClr val="101827"/>
          </a:solidFill>
          <a:ln w="12700">
            <a:solidFill>
              <a:srgbClr val="2B364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81912"/>
            <a:ext cx="7507224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[CreateAssetMenu(menuName = "Flyweight/Terrain Type")]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sealed class TerrainTypeAsset : ScriptableObject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movementCost = 1;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isWater;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Sprite sprite;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Color tint = Color.white;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</a:t>
            </a: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자주 볼 수 있는</a:t>
            </a: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804672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E457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공유되는 것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859536" y="194767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847088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59536" y="273405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633472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59536" y="3520440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419856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Texture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59536" y="430682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4206240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 설정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480060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개별로 남는 것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855464" y="194767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1847088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 위치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4855464" y="273405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633472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색 또는 체력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4855464" y="352044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3419856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 좌표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4855464" y="430682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4206240"/>
            <a:ext cx="32461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4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</a:t>
            </a:r>
            <a:r>
              <a:rPr lang="en-US" altLang="ko-KR" sz="14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</a:t>
            </a:r>
            <a:r>
              <a:rPr lang="ko-KR" altLang="en-US" sz="142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인스턴스별 변형 값</a:t>
            </a:r>
            <a:endParaRPr lang="en-US" sz="14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논의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45389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53312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참조를 따라가는 비용 때문에 캐시 미스가 생길 수 있다.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822960" y="211226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11680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중복 객체를 줄이면 메모리와 로딩 비용을 줄일 수 있다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822960" y="27706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70048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예제의 결론처럼 최적화는 추측보다 프로파일링이 먼저다.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28416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유지보수성을 크게 해치면서까지 enum과 switch로 되돌아갈 필요는 없다.</a:t>
            </a:r>
            <a:endParaRPr lang="en-US" sz="1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</a:t>
            </a:r>
            <a:r>
              <a:rPr lang="ko-KR" altLang="en-US" sz="2500" b="1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적용하기 좋은 신호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45389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53312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객체가 수백, 수천 개 이상 반복된다.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822960" y="211226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11680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객체가 같은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Mesh, Texture,</a:t>
            </a: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데이터를 그대로 가지고 있다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822960" y="27706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70048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사용량이나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Draw Call</a:t>
            </a: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병목으로 나타난다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28416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enum과 switch가 늘어나 객체의 의미가 코드 곳곳에 흩어진다.</a:t>
            </a:r>
            <a:endParaRPr lang="en-US" sz="1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주의할 점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45389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53312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객체를 수정하면 이를 참조하는 모든 곳에 영향이 간다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822960" y="211226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11680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공유할 상태와 개별 상태를 잘못 나누면 버그가 숨어들기 쉽다</a:t>
            </a:r>
            <a:r>
              <a:rPr lang="en-US" altLang="ko-KR" sz="168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822960" y="27706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70048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인스턴스별 데이터를 공유 객체에 넣지 않는다.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28416"/>
            <a:ext cx="7360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개선 목적이라면 반드시 측정 전후를 비교한다.</a:t>
            </a:r>
            <a:endParaRPr lang="en-US" sz="16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패턴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45389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53312"/>
            <a:ext cx="7360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Factory Method: 같은 flyweight가 이미 있는지 찾고 없을 때만 만든다.</a:t>
            </a:r>
            <a:endParaRPr lang="en-US" sz="1570" dirty="0"/>
          </a:p>
        </p:txBody>
      </p:sp>
      <p:sp>
        <p:nvSpPr>
          <p:cNvPr id="9" name="Shape 7"/>
          <p:cNvSpPr/>
          <p:nvPr/>
        </p:nvSpPr>
        <p:spPr>
          <a:xfrm>
            <a:off x="822960" y="213055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29968"/>
            <a:ext cx="7360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 Pool: 만들어 둔 flyweight를 보관하고 재사용하는 저장소가 될 수 있다.</a:t>
            </a:r>
            <a:endParaRPr lang="en-US" sz="1570" dirty="0"/>
          </a:p>
        </p:txBody>
      </p:sp>
      <p:sp>
        <p:nvSpPr>
          <p:cNvPr id="11" name="Shape 9"/>
          <p:cNvSpPr/>
          <p:nvPr/>
        </p:nvSpPr>
        <p:spPr>
          <a:xfrm>
            <a:off x="822960" y="280720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706624"/>
            <a:ext cx="7360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State: 상태 객체가 개별 필드를 갖지 않는다면 여러 FSM이 같은 상태 인스턴스를 공유할 수 있다.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822960" y="348386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383280"/>
            <a:ext cx="73609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altLang="ko-KR" sz="157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Locality:</a:t>
            </a:r>
            <a:r>
              <a:rPr lang="ko-KR" altLang="en-US" sz="157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 추적과 캐시 미스 관점에서 함께 고려해야 한다</a:t>
            </a:r>
            <a:r>
              <a:rPr lang="en-US" altLang="ko-KR" sz="157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7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아키텍처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74980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타일이 TerrainTypeAsset을 공유하도록 만든다.</a:t>
            </a:r>
            <a:endParaRPr lang="en-US" sz="182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TerrainType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2532888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70048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Tile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4517136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54296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WorldGrid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501384" y="2569464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07D"/>
                </a:solidFill>
              </a:rPr>
              <a:t>→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38544" y="2359152"/>
            <a:ext cx="1819656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560320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22960" y="355701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456432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TerrainTypeAsset: 이동 비용, 물 여부, 색상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822960" y="401421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3913632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TileInstance: 좌표와 TerrainTypeAsset 참조</a:t>
            </a:r>
            <a:endParaRPr lang="en-US" sz="1580" dirty="0"/>
          </a:p>
        </p:txBody>
      </p:sp>
      <p:sp>
        <p:nvSpPr>
          <p:cNvPr id="23" name="Shape 21"/>
          <p:cNvSpPr/>
          <p:nvPr/>
        </p:nvSpPr>
        <p:spPr>
          <a:xfrm>
            <a:off x="822960" y="447141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370832"/>
            <a:ext cx="74066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WorldGrid: 타일 배열 생성과 조회</a:t>
            </a:r>
            <a:endParaRPr lang="en-US" sz="15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문제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TASK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`03차시_Flyweight/실습파일/FlyweightUnityPractice`를 Unity Hub에서 연다.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841248" y="247802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77440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타일마다 새 TerrainType을 만들지 않도록 공유 객체를 사용한다.</a:t>
            </a:r>
            <a:endParaRPr lang="en-US" sz="1530" dirty="0"/>
          </a:p>
        </p:txBody>
      </p:sp>
      <p:sp>
        <p:nvSpPr>
          <p:cNvPr id="13" name="Shape 11"/>
          <p:cNvSpPr/>
          <p:nvPr/>
        </p:nvSpPr>
        <p:spPr>
          <a:xfrm>
            <a:off x="841248" y="3063240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62656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Grass, Hill, River 타입을 만들고 여러 타일이 같은 인스턴스를 참조하게 한다.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841248" y="364845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547872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HUD에서 선택한 타일의 이동 비용과 물 여부를 출력한다.</a:t>
            </a:r>
            <a:endParaRPr lang="en-US" sz="15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1-4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TODO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`TerrainType`을 읽기 전용 데이터 객체로 완성한다.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`WorldGrid`에서 grass, hill, river 공유 인스턴스를 만든다.</a:t>
            </a:r>
            <a:endParaRPr lang="en-US" sz="156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맵 생성 시 타일마다 새 객체를 만들지 않고 공유 인스턴스를 넣는다.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Grass 타일이 같은 TerrainType 참조인지 확인한다.</a:t>
            </a:r>
            <a:endParaRPr lang="en-US" sz="15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5-8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TODO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또는 좌표 입력으로 타일을 선택한다.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타일의 TerrainType 정보를 HUD에 표시한다.</a:t>
            </a:r>
            <a:endParaRPr lang="en-US" sz="156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River는 이동 불가 또는 높은 이동 비용으로 처리한다.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6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확장: ScriptableObject 기반 TerrainTypeAsset으로 바꾼다.</a:t>
            </a:r>
            <a:endParaRPr lang="en-US" sz="15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기준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PASS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지형 타입의 타일들이 같은 TerrainType 인스턴스를 공유한다.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841248" y="247802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77440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altLang="ko-KR" sz="153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TerrainType</a:t>
            </a:r>
            <a:r>
              <a:rPr lang="ko-KR" altLang="en-US" sz="153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좌표나 개별 타일 상태가 포함되지 않는다</a:t>
            </a:r>
            <a:r>
              <a:rPr lang="en-US" altLang="ko-KR" sz="153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30" dirty="0"/>
          </a:p>
        </p:txBody>
      </p:sp>
      <p:sp>
        <p:nvSpPr>
          <p:cNvPr id="13" name="Shape 11"/>
          <p:cNvSpPr/>
          <p:nvPr/>
        </p:nvSpPr>
        <p:spPr>
          <a:xfrm>
            <a:off x="841248" y="306324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62656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WorldGrid가 switch 대신 TerrainType 객체에서 데이터를 읽는다.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841248" y="364845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547872"/>
            <a:ext cx="73152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코드에서 intrinsic/extrinsic state 구분을 설명할 수 있다.</a:t>
            </a:r>
            <a:endParaRPr lang="en-US" sz="153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E45745"/>
          </a:solidFill>
          <a:ln w="12700">
            <a:solidFill>
              <a:srgbClr val="E457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과제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0759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PLUS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841248" y="189280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92224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 에셋으로 지형 타입 만들기</a:t>
            </a:r>
            <a:endParaRPr lang="en-US" sz="1580" dirty="0"/>
          </a:p>
        </p:txBody>
      </p:sp>
      <p:sp>
        <p:nvSpPr>
          <p:cNvPr id="11" name="Shape 9"/>
          <p:cNvSpPr/>
          <p:nvPr/>
        </p:nvSpPr>
        <p:spPr>
          <a:xfrm>
            <a:off x="841248" y="245973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359152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MaterialPropertyBlock으로 타일별 색상만 다르게 하기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841248" y="302666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26080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맵에서 메모리 사용량 비교하기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841248" y="359359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493008"/>
            <a:ext cx="73152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Factory 캐시로 같은 설정의 TerrainType 재사용하기</a:t>
            </a:r>
            <a:endParaRPr lang="en-US" sz="15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94360" y="53400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 | Unity/C#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76352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altLang="ko-KR" sz="300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Flyweight</a:t>
            </a:r>
            <a:r>
              <a:rPr lang="ko-KR" altLang="en-US" sz="300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lang="en-US" altLang="ko-KR" sz="300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300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데이터를 중복해 가지지 말고 공유하자</a:t>
            </a:r>
            <a:r>
              <a:rPr lang="en-US" altLang="ko-KR" sz="300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ko-KR" altLang="en-US" sz="3000" b="1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패턴이다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29535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852928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상태는 공유하고, 개별 상태는 인스턴스에 남긴다.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55701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56432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Unity의 Mesh, Material, ScriptableObject와 잘 맞는다.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4059936"/>
            <a:ext cx="74066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패턴이지만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측정과 불변성 원칙을 함께 지켜야 한다</a:t>
            </a:r>
            <a:r>
              <a:rPr lang="en-US" altLang="ko-KR" sz="170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2506</Words>
  <Application>Microsoft Office PowerPoint</Application>
  <PresentationFormat>화면 슬라이드 쇼(16:10)</PresentationFormat>
  <Paragraphs>432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Malgun Gothic</vt:lpstr>
      <vt:lpstr>Aptos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3차시 - Flyweight</dc:title>
  <dc:subject>Game Programming Patterns - Flyweight</dc:subject>
  <dc:creator>Codex</dc:creator>
  <cp:lastModifiedBy>재흠 나</cp:lastModifiedBy>
  <cp:revision>5</cp:revision>
  <dcterms:created xsi:type="dcterms:W3CDTF">2026-05-11T01:35:22Z</dcterms:created>
  <dcterms:modified xsi:type="dcterms:W3CDTF">2026-05-12T03:04:12Z</dcterms:modified>
</cp:coreProperties>
</file>