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715000" type="screen16x1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109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오늘은 </a:t>
            </a:r>
            <a:r>
              <a:rPr lang="en-US" altLang="ko-KR"/>
              <a:t>Flyweight </a:t>
            </a:r>
            <a:r>
              <a:rPr lang="ko-KR" altLang="en-US"/>
              <a:t>패턴을 </a:t>
            </a:r>
            <a:r>
              <a:rPr lang="en-US" altLang="ko-KR"/>
              <a:t>Unity</a:t>
            </a:r>
            <a:r>
              <a:rPr lang="ko-KR" altLang="en-US"/>
              <a:t>와 </a:t>
            </a:r>
            <a:r>
              <a:rPr lang="en-US" altLang="ko-KR"/>
              <a:t>C# </a:t>
            </a:r>
            <a:r>
              <a:rPr lang="ko-KR" altLang="en-US"/>
              <a:t>관점에서 다룬다</a:t>
            </a:r>
            <a:r>
              <a:rPr lang="en-US" altLang="ko-KR"/>
              <a:t>. </a:t>
            </a:r>
            <a:r>
              <a:rPr lang="ko-KR" altLang="en-US"/>
              <a:t>핵심은 많은 객체가 반복해서 갖는 큰 데이터를 공유하고</a:t>
            </a:r>
            <a:r>
              <a:rPr lang="en-US" altLang="ko-KR"/>
              <a:t>, </a:t>
            </a:r>
            <a:r>
              <a:rPr lang="ko-KR" altLang="en-US"/>
              <a:t>개별 객체에는 위치와 색 같은 작은 상태만 남기는 것이다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Flyweight 장이다. 슬라이드는 원문을 그대로 옮기지 않고 수업용 설명으로 재구성했다. 장의 흐름은 숲과 나무, GPU 인스턴싱, intrinsic/extrinsic state, 지형 타일 예시, 성능 논의, 관련 패턴 순서다.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Flyweight 장이다. 슬라이드는 원문을 그대로 옮기지 않고 수업용 설명으로 재구성했다. 장의 흐름은 숲과 나무, GPU 인스턴싱, intrinsic/extrinsic state, 지형 타일 예시, 성능 논의, 관련 패턴 순서다.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Flyweight 장이다. 슬라이드는 원문을 그대로 옮기지 않고 수업용 설명으로 재구성했다. 장의 흐름은 숲과 나무, GPU 인스턴싱, intrinsic/extrinsic state, 지형 타일 예시, 성능 논의, 관련 패턴 순서다.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장대한 숲을 예시로 시작한다. 실제 게임에서는 수천 개의 나무를 렌더링해야 하므로 데이터 중복이 문제가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Tree 클래스 예시를 C#으로 바꾸었다. 큰 데이터인 Mesh와 Texture가 각 객체 안에 들어가면 중복이 커진다.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Flyweight의 출발점은 반복되는 큰 데이터와 개별 데이터가 섞여 있다는 사실을 보는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</a:t>
            </a:r>
            <a:r>
              <a:rPr lang="en-US" altLang="ko-KR"/>
              <a:t>TreeModel</a:t>
            </a:r>
            <a:r>
              <a:rPr lang="ko-KR" altLang="en-US"/>
              <a:t>에 </a:t>
            </a:r>
            <a:r>
              <a:rPr lang="en-US" altLang="ko-KR"/>
              <a:t>mesh, bark texture, leaf texture</a:t>
            </a:r>
            <a:r>
              <a:rPr lang="ko-KR" altLang="en-US"/>
              <a:t>를 담는다</a:t>
            </a:r>
            <a:r>
              <a:rPr lang="en-US" altLang="ko-KR"/>
              <a:t>. Unity</a:t>
            </a:r>
            <a:r>
              <a:rPr lang="ko-KR" altLang="en-US"/>
              <a:t>에서는 </a:t>
            </a:r>
            <a:r>
              <a:rPr lang="en-US" altLang="ko-KR"/>
              <a:t>Mesh</a:t>
            </a:r>
            <a:r>
              <a:rPr lang="ko-KR" altLang="en-US"/>
              <a:t>와 </a:t>
            </a:r>
            <a:r>
              <a:rPr lang="en-US" altLang="ko-KR"/>
              <a:t>Material</a:t>
            </a:r>
            <a:r>
              <a:rPr lang="ko-KR" altLang="en-US"/>
              <a:t>로 표현하면 자연스럽다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TreeInstance는 공유 TreeModel 참조와 위치, 높이, 색만 가진다.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그림은 여러 나무가 하나의 Model을 공유하는 구조를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Flyweight와 Type Object가 비슷해 보이지만 의도가 다르다고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</a:t>
            </a:r>
            <a:r>
              <a:rPr lang="en-US"/>
              <a:t>Direct3D</a:t>
            </a:r>
            <a:r>
              <a:rPr lang="ko-KR" altLang="en-US"/>
              <a:t>와 </a:t>
            </a:r>
            <a:r>
              <a:rPr lang="en-US"/>
              <a:t>OpenGL</a:t>
            </a:r>
            <a:r>
              <a:rPr lang="ko-KR" altLang="en-US"/>
              <a:t>의 </a:t>
            </a:r>
            <a:r>
              <a:rPr lang="en-US"/>
              <a:t>instanced rendering</a:t>
            </a:r>
            <a:r>
              <a:rPr lang="ko-KR" altLang="en-US"/>
              <a:t>을 언급한다</a:t>
            </a:r>
            <a:r>
              <a:rPr lang="en-US" altLang="ko-KR"/>
              <a:t>. </a:t>
            </a:r>
            <a:r>
              <a:rPr lang="en-US"/>
              <a:t>Unity</a:t>
            </a:r>
            <a:r>
              <a:rPr lang="ko-KR" altLang="en-US"/>
              <a:t>에서도 </a:t>
            </a:r>
            <a:r>
              <a:rPr lang="en-US"/>
              <a:t>GPU Instancing</a:t>
            </a:r>
            <a:r>
              <a:rPr lang="ko-KR" altLang="en-US"/>
              <a:t>과 </a:t>
            </a:r>
            <a:r>
              <a:rPr lang="en-US"/>
              <a:t>Graphics.DrawMeshInstanced</a:t>
            </a:r>
            <a:r>
              <a:rPr lang="ko-KR" altLang="en-US"/>
              <a:t>가 같은 개념을 따른다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실제 </a:t>
            </a:r>
            <a:r>
              <a:rPr lang="en-US" altLang="ko-KR"/>
              <a:t>Unity </a:t>
            </a:r>
            <a:r>
              <a:rPr lang="ko-KR" altLang="en-US"/>
              <a:t>프로젝트에서는 배치 크기</a:t>
            </a:r>
            <a:r>
              <a:rPr lang="en-US" altLang="ko-KR"/>
              <a:t>, </a:t>
            </a:r>
            <a:r>
              <a:rPr lang="ko-KR" altLang="en-US"/>
              <a:t>머티리얼 설정</a:t>
            </a:r>
            <a:r>
              <a:rPr lang="en-US" altLang="ko-KR"/>
              <a:t>, SRP Batcher </a:t>
            </a:r>
            <a:r>
              <a:rPr lang="ko-KR" altLang="en-US"/>
              <a:t>등 추가로 고려할 사항이 있지만</a:t>
            </a:r>
            <a:r>
              <a:rPr lang="en-US" altLang="ko-KR"/>
              <a:t>, </a:t>
            </a:r>
            <a:r>
              <a:rPr lang="ko-KR" altLang="en-US"/>
              <a:t>수업에서는 핵심 구조만 보여준다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context-free 상태를 intrinsic state로 설명하고, 인스턴스마다 다른 값을 extrinsic state로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학생에게 Flyweight 판단 기준을 연습시키는 슬라이드다.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Terrain의 메서드가 const인 점을 짚으며 공유 객체는 변경하면 안 된다고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나무 다음으로 지형 타일 예시를 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enum으로 지형 타입을 저장하고 switch로 movement cost와 water 여부를 반환하는 방식을 먼저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이 방식이 동작은 하지만 보기 좋지 않다고 설명한다</a:t>
            </a:r>
            <a:r>
              <a:rPr lang="en-US" altLang="ko-KR"/>
              <a:t>. </a:t>
            </a:r>
            <a:r>
              <a:rPr lang="ko-KR" altLang="en-US"/>
              <a:t>객체가 본래 제공해야 할 캡슐화를 잃기 때문이다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원문의 </a:t>
            </a:r>
            <a:r>
              <a:rPr lang="en-US" altLang="ko-KR"/>
              <a:t>Terrain </a:t>
            </a:r>
            <a:r>
              <a:rPr lang="ko-KR" altLang="en-US"/>
              <a:t>클래스를 </a:t>
            </a:r>
            <a:r>
              <a:rPr lang="en-US" altLang="ko-KR"/>
              <a:t>C#</a:t>
            </a:r>
            <a:r>
              <a:rPr lang="ko-KR" altLang="en-US"/>
              <a:t>으로 옮긴다</a:t>
            </a:r>
            <a:r>
              <a:rPr lang="en-US" altLang="ko-KR"/>
              <a:t>. </a:t>
            </a:r>
            <a:r>
              <a:rPr lang="ko-KR" altLang="en-US"/>
              <a:t>모든 프로퍼티는 읽기 전용이다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Terrain* tiles_[WIDTH][HEIGHT] 구조를 사용한다. C#에서는 2차원 배열에 TerrainType 참조를 저장한다.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풀로 채우고 일부 언덕을 뿌린 뒤 강을 놓는 간단한 생성 예시를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포인터가 </a:t>
            </a:r>
            <a:r>
              <a:rPr lang="en-US" altLang="ko-KR"/>
              <a:t>enum</a:t>
            </a:r>
            <a:r>
              <a:rPr lang="ko-KR" altLang="en-US"/>
              <a:t>보다 크게 무겁지 않으면서 객체지향 </a:t>
            </a:r>
            <a:r>
              <a:rPr lang="en-US" altLang="ko-KR"/>
              <a:t>API</a:t>
            </a:r>
            <a:r>
              <a:rPr lang="ko-KR" altLang="en-US"/>
              <a:t>를 되살린다고 설명한다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Unity에서는 ScriptableObject가 flyweight 역할을 하기 좋다. 여러 타일이 같은 TerrainTypeAsset을 참조한다.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개발에서 이미 많은 리소스가 flyweight처럼 동작한다.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What About Performance 절이다. Flyweight가 항상 빠르다고 단정하지 않고 프로파일링을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 적용 기준을 정리한다.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Flyweight의 대표적인 실수는 공유 객체에 개별 상태를 넣는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See Also를 수업용으로 정리한다.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실습은 </a:t>
            </a:r>
            <a:r>
              <a:rPr lang="en-US" altLang="ko-KR"/>
              <a:t>ScriptableObject </a:t>
            </a:r>
            <a:r>
              <a:rPr lang="ko-KR" altLang="en-US"/>
              <a:t>없이 </a:t>
            </a:r>
            <a:r>
              <a:rPr lang="en-US" altLang="ko-KR"/>
              <a:t>C# </a:t>
            </a:r>
            <a:r>
              <a:rPr lang="ko-KR" altLang="en-US"/>
              <a:t>객체만으로도 할 수 있고</a:t>
            </a:r>
            <a:r>
              <a:rPr lang="en-US" altLang="ko-KR"/>
              <a:t>, </a:t>
            </a:r>
            <a:r>
              <a:rPr lang="ko-KR" altLang="en-US"/>
              <a:t>확장 과제에서 </a:t>
            </a:r>
            <a:r>
              <a:rPr lang="en-US" altLang="ko-KR"/>
              <a:t>ScriptableObject </a:t>
            </a:r>
            <a:r>
              <a:rPr lang="ko-KR" altLang="en-US"/>
              <a:t>기반으로 바꿀 수 있다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실습 과제 명세다.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구현 단계다.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구현 단계다.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기능과 구조를 함께 평가한다.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빠른 학생을 위한 확장 과제다.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마지막에는 intrinsic/extrinsic state 구분을 다시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713232"/>
            <a:ext cx="914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Pattern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Shared Data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2544318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81478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4630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Many Instances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4402836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39996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3148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 Memory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6261354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98514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1666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 Draw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Flyweight를 '공유 가능한 큰 상태를 분리하는 패턴'으로 설명한다.</a:t>
            </a:r>
            <a:endParaRPr lang="en-US" sz="1720" dirty="0"/>
          </a:p>
        </p:txBody>
      </p:sp>
      <p:sp>
        <p:nvSpPr>
          <p:cNvPr id="9" name="Shape 7"/>
          <p:cNvSpPr/>
          <p:nvPr/>
        </p:nvSpPr>
        <p:spPr>
          <a:xfrm>
            <a:off x="822960" y="210312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02536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state와 extrinsic state를 구분한다.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22960" y="27523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51760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C#에서 공유 모델과 개별 인스턴스를 분리해 구현한다.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822960" y="340156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00984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Mesh, Material, ScriptableObject를 공유하는 구조를 이해한다.</a:t>
            </a:r>
            <a:endParaRPr lang="en-US" sz="1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장의 전체 흐름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4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Forest for the Trees: 숲 전체를 개별 나무 객체로 만들면 데이터가 커진다.</a:t>
            </a:r>
            <a:endParaRPr lang="en-US" sz="1640" dirty="0"/>
          </a:p>
        </p:txBody>
      </p:sp>
      <p:sp>
        <p:nvSpPr>
          <p:cNvPr id="9" name="Shape 7"/>
          <p:cNvSpPr/>
          <p:nvPr/>
        </p:nvSpPr>
        <p:spPr>
          <a:xfrm>
            <a:off x="822960" y="21854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8483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4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Thousand Instances: GPU에는 공유 모델과 인스턴스 데이터를 따로 보낸다.</a:t>
            </a:r>
            <a:endParaRPr lang="en-US" sz="1640" dirty="0"/>
          </a:p>
        </p:txBody>
      </p:sp>
      <p:sp>
        <p:nvSpPr>
          <p:cNvPr id="11" name="Shape 9"/>
          <p:cNvSpPr/>
          <p:nvPr/>
        </p:nvSpPr>
        <p:spPr>
          <a:xfrm>
            <a:off x="822960" y="291693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81635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4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Flyweight Pattern: 공통 상태와 개별 상태를 분리한다.</a:t>
            </a:r>
            <a:endParaRPr lang="en-US" sz="1640" dirty="0"/>
          </a:p>
        </p:txBody>
      </p:sp>
      <p:sp>
        <p:nvSpPr>
          <p:cNvPr id="13" name="Shape 11"/>
          <p:cNvSpPr/>
          <p:nvPr/>
        </p:nvSpPr>
        <p:spPr>
          <a:xfrm>
            <a:off x="822960" y="36484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54787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4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Place To Put Down Roots: 타일 지형을 enum 대신 공유 객체로 표현한다.</a:t>
            </a:r>
            <a:endParaRPr lang="en-US" sz="1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장의 전체 흐름 2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About Performance: 포인터 추적 비용은 있을 수 있으니 프로파일링이 필요하다.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822960" y="21854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8483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 Also: Factory Method는 flyweight 생성을 숨길 수 있다.</a:t>
            </a:r>
            <a:endParaRPr lang="en-US" sz="1620" dirty="0"/>
          </a:p>
        </p:txBody>
      </p:sp>
      <p:sp>
        <p:nvSpPr>
          <p:cNvPr id="11" name="Shape 9"/>
          <p:cNvSpPr/>
          <p:nvPr/>
        </p:nvSpPr>
        <p:spPr>
          <a:xfrm>
            <a:off x="822960" y="291693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81635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Pool은 이미 만든 flyweight를 보관하는 장소가 될 수 있다.</a:t>
            </a:r>
            <a:endParaRPr lang="en-US" sz="1620" dirty="0"/>
          </a:p>
        </p:txBody>
      </p:sp>
      <p:sp>
        <p:nvSpPr>
          <p:cNvPr id="13" name="Shape 11"/>
          <p:cNvSpPr/>
          <p:nvPr/>
        </p:nvSpPr>
        <p:spPr>
          <a:xfrm>
            <a:off x="822960" y="36484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547872"/>
            <a:ext cx="7360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altLang="ko-KR" sz="16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</a:t>
            </a:r>
            <a:r>
              <a:rPr lang="ko-KR" altLang="en-US" sz="16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패턴의 상태 객체에 데이터가 없다면 공유 인스턴스로 쓸 수 있다</a:t>
            </a:r>
            <a:r>
              <a:rPr lang="en-US" altLang="ko-KR" sz="16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출발점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숲을 만들고 싶은데, 나무 하나하나가 너무 무겁다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나무가 Mesh, Texture, 위치, 크기, 색을 모두 가진다.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나무가 있으면 메모리와 렌더링 비용이 커진다.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대부분의 나무는 같은 모델과 텍스처를 공유한다.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시작</a:t>
            </a: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나무가 모든 데이터를 가진다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Mesh와 Texture가 나무마다 복사된다고 생각해보자.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Mesh Mesh;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Texture2D Bark;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Texture2D Leaves;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Position;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Height;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LeafTint;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나무가 있어도, 대부분 같은 모델과 텍스처를 쓴다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데이터는 한 번만 저장해도 된다.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나무에는 위치, 크기, 색처럼 달라지는 값만 남긴다.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객체를 둘로 나누면 중복이 줄어든다.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데이터: TreeModel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나무가 같이 쓰는 데이터를 따로 뺀다.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TreeModel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Mesh Mesh { get; }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Material BarkMaterial { get; }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Material LeafMaterial { get; }</a:t>
            </a:r>
            <a:endParaRPr lang="en-US" sz="1170" dirty="0"/>
          </a:p>
          <a:p>
            <a:pPr marL="0" indent="0">
              <a:buNone/>
            </a:pP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TreeModel(Mesh mesh, Material bark, Material leaf)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Mesh = mesh;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BarkMaterial = bark;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LeafMaterial = leaf;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7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데이터: TreeInstance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나무마다 다른 값만 남긴다.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TreeInstance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TreeModel Model { get; }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Position { get; }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Height { get; }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LeafTint { get; }</a:t>
            </a:r>
            <a:endParaRPr lang="en-US" sz="1040" dirty="0"/>
          </a:p>
          <a:p>
            <a:pPr marL="0" indent="0">
              <a:buNone/>
            </a:pP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TreeInstance(TreeModel model, Vector3 position,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float height, Color leafTint)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 = model;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Position = position;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Height = height;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LeafTint = leafTint;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구조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큰 모델을 여러 인스턴스가 가리킨다.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TreeModel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A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B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C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TreeModel: Mesh, Material처럼 무겁고 공통인 데이터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TreeInstance: Position, Scale, Tint처럼 가볍고 개별적인 데이터</a:t>
            </a:r>
            <a:endParaRPr lang="en-US" sz="15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Object와 비슷하지만 목적이 다르다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04672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59536" y="194767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 수를 줄이기 위해 타입을 데이터로 만든다.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59536" y="27340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유연성이 주목적이다.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859536" y="35204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공유는 부수 효과일 수 있다.</a:t>
            </a:r>
            <a:endParaRPr lang="en-US" sz="1420" dirty="0"/>
          </a:p>
        </p:txBody>
      </p:sp>
      <p:sp>
        <p:nvSpPr>
          <p:cNvPr id="14" name="Text 12"/>
          <p:cNvSpPr/>
          <p:nvPr/>
        </p:nvSpPr>
        <p:spPr>
          <a:xfrm>
            <a:off x="48006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4855464" y="194767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6632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 객체의 중복 데이터를 줄인다.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4855464" y="27340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6632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효율이 주목적이다</a:t>
            </a:r>
            <a:r>
              <a:rPr lang="en-US" altLang="ko-KR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4855464" y="35204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상태는 거의 불변이어야 한다.</a:t>
            </a:r>
            <a:endParaRPr lang="en-US" sz="14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인스턴싱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모델은 한 번, 인스턴스 값은 여러 번 보낸다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Mesh와 Material은 공통 스트림으로 보낸다.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위치, 회전, 색, 스케일은 인스턴스 스트림으로 보낸다.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Draw Call로 많은 나무를 그릴 수 있다.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에서의 인스턴싱 사고방식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Mesh를 여러 행렬로 그린다.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DrawTrees(Mesh mesh, Material material,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Matrix4x4[] transforms)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Graphics.DrawMeshInstanced(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mesh,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0,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material,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transforms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패턴의 일반적인 정의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Flyweight는 객체의 상태를 두 종류로 나눈다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state: 특정 인스턴스에 묶이지 않는 공통 데이터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Extrinsic state: 위치, 색, 스케일처럼 인스턴스마다 다른 데이터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데이터 한 벌을 여러 인스턴스가 공유한다.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vs Extrinsic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공유하고 무엇을 남길지 구분하는 것이 핵심이다.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Texture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Position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Tint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Mesh, Texture: 공통이므로 공유한다.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Position, Tint: 인스턴스마다 다르므로 개별 보관한다.</a:t>
            </a:r>
            <a:endParaRPr lang="en-US" sz="15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불변성이 중요한 이유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객체를 수정하면, 그 객체를 쓰는 모든 인스턴스가 동시에 바뀐다.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객체는 대부분 불변으로 설계한다.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Unity에서는 공유 Material을 직접 수정하면 모든 오브젝트가 바뀔 수 있다.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색이 필요하면 MaterialPropertyBlock 같은 별도 경로를 고려한다.</a:t>
            </a:r>
            <a:endParaRPr lang="en-US" sz="1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예시: 타일 지형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ko-KR" altLang="en-US" sz="3000" b="1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맵을 타일로 구성하면</a:t>
            </a:r>
            <a:r>
              <a:rPr lang="en-US" altLang="ko-KR" sz="3000" b="1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3000" b="1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반복 데이터가 많아진다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초원, 언덕, 강 같은 지형 타입이 반복된다.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타입은 이동 비용, 물 여부, 텍스처를 가진다.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이 데이터를 복사하면 낭비가 생긴다.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enum과 switch 방식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효율적이지만 데이터가 코드 곳곳에 흩어진다.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enum TerrainKind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Grass,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Hill,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River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80" dirty="0"/>
          </a:p>
          <a:p>
            <a:pPr marL="0" indent="0">
              <a:buNone/>
            </a:pP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 GetMovementCost(TerrainKind kind)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kind switch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TerrainKind.Grass =&gt; 1,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TerrainKind.Hill =&gt; 3,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TerrainKind.River =&gt; 2,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 =&gt; 1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};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방식의 불편함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ko-KR" altLang="en-US" sz="3000" b="1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지형에 대한 데이터가 여러 메서드에 흩어져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비용은 한 switch에 있다.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여부는 다른 switch에 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텍스처도 또 다른 곳에서 관리될 수 있다.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459943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449884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하나의 의미가 코드 여러 군데에 흩어진다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Terrain을 객체로 만들기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지형의 데이터를 한 객체에 모은다.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TerrainType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MovementCost { get;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 IsWater { get;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Sprite Sprite { get; 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TerrainType(int movementCost,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bool isWater,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Sprite sprite)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MovementCost = movementCost;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IsWater = isWater;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Sprite = sprite;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World는 TerrainType 참조를 저장한다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객체를 새로 만들지 않고 공유 객체를 가리킨다.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WorldGrid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TerrainType[,] tiles;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grass;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hill;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river;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TerrainType GetTile(int x, int y)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tiles[x, y];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생성 예시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칸이 같은 TerrainType 객체를 공유한다.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x = 0; x &lt; width; x++)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y = 0; y &lt; height; y++)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tiles[x, y] = Random.value &lt; 0.1f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? hill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: grass;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riverX = Random.Range(0, width);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y = 0; y &lt; height; y++)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tiles[riverX, y] = river;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객체지향 </a:t>
            </a: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되살린다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참조만 저장하면서도, 지형은 객체처럼 사용할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`world.GetTile(x, y).MovementCost`처럼 읽을 수 있다.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World는 지형의 세부 규칙을 switch로 알 필요가 없다.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하나 크기와 비슷한 참조로 객체지향 API를 얻는다.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에서는 </a:t>
            </a: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활용이 자연스럽다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타입을 에셋으로 만들면 디자이너가 조정할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[CreateAssetMenu(menuName = "Flyweight/Terrain Type")]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TerrainTypeAsset : ScriptableObject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movementCost = 1;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 isWater;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Sprite sprite;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tint = Color.white;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자주 볼 수 있는 </a:t>
            </a: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04672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공유되는 것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59536" y="194767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59536" y="27340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859536" y="35204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Texture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59536" y="430682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4206240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설정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48006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개별로 남는 것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4855464" y="194767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6632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Transform 위치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4855464" y="27340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색 또는 체력</a:t>
            </a:r>
            <a:endParaRPr lang="en-US" sz="1420" dirty="0"/>
          </a:p>
        </p:txBody>
      </p:sp>
      <p:sp>
        <p:nvSpPr>
          <p:cNvPr id="21" name="Shape 19"/>
          <p:cNvSpPr/>
          <p:nvPr/>
        </p:nvSpPr>
        <p:spPr>
          <a:xfrm>
            <a:off x="4855464" y="35204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56632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 좌표</a:t>
            </a:r>
            <a:endParaRPr lang="en-US" sz="1420" dirty="0"/>
          </a:p>
        </p:txBody>
      </p:sp>
      <p:sp>
        <p:nvSpPr>
          <p:cNvPr id="23" name="Shape 21"/>
          <p:cNvSpPr/>
          <p:nvPr/>
        </p:nvSpPr>
        <p:spPr>
          <a:xfrm>
            <a:off x="4855464" y="43068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56632" y="4206240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seed나 변형 값</a:t>
            </a:r>
            <a:endParaRPr lang="en-US" sz="14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논의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참조를 따라가는 비용 때문에 캐시 미스가 생길 수 있다.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중복 객체를 줄이면 메모리와 로딩 비용을 줄일 수 있다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원문의 결론처럼 최적화는 추측보다 프로파일링이 먼저다.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유지보수성을 크게 해치면서까지 enum과 switch로 되돌아갈 필요는 없다.</a:t>
            </a:r>
            <a:endParaRPr lang="en-US" sz="16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적용하기 좋은 신호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객체가 수백, 수천 개 이상 반복된다.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객체가 같은 Mesh, Texture, 설정 데이터를 들고 있다.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사용량이나 Draw Call이 문제로 보인다.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enum과 switch가 늘어나 객체의 의미가 코드 곳곳에 흩어진다.</a:t>
            </a:r>
            <a:endParaRPr lang="en-US" sz="16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주의할 점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객체를 수정하면 이를 참조하는 모든 곳에 영향이 간다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공유할 상태와 개별 상태를 잘못 나누면 버그가 숨어들기 쉽다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인스턴스별 데이터를 공유 객체에 넣지 않는다.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 목적이라면 반드시 측정 전후를 비교한다.</a:t>
            </a:r>
            <a:endParaRPr lang="en-US" sz="16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패턴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Factory Method: 같은 flyweight가 이미 있는지 찾고 없을 때만 만든다.</a:t>
            </a:r>
            <a:endParaRPr lang="en-US" sz="1570" dirty="0"/>
          </a:p>
        </p:txBody>
      </p:sp>
      <p:sp>
        <p:nvSpPr>
          <p:cNvPr id="9" name="Shape 7"/>
          <p:cNvSpPr/>
          <p:nvPr/>
        </p:nvSpPr>
        <p:spPr>
          <a:xfrm>
            <a:off x="822960" y="21305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29968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Pool: 만들어 둔 flyweight를 보관하고 재사용하는 저장소가 될 수 있다.</a:t>
            </a:r>
            <a:endParaRPr lang="en-US" sz="1570" dirty="0"/>
          </a:p>
        </p:txBody>
      </p:sp>
      <p:sp>
        <p:nvSpPr>
          <p:cNvPr id="11" name="Shape 9"/>
          <p:cNvSpPr/>
          <p:nvPr/>
        </p:nvSpPr>
        <p:spPr>
          <a:xfrm>
            <a:off x="822960" y="280720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706624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State: 상태 객체가 개별 필드를 갖지 않는다면 여러 FSM이 같은 상태 인스턴스를 공유할 수 있다.</a:t>
            </a:r>
            <a:endParaRPr lang="en-US" sz="1570" dirty="0"/>
          </a:p>
        </p:txBody>
      </p:sp>
      <p:sp>
        <p:nvSpPr>
          <p:cNvPr id="13" name="Shape 11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83280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Locality: 포인터 추적과 캐시 미스 관점에서 함께 생각해야 한다.</a:t>
            </a:r>
            <a:endParaRPr lang="en-US" sz="157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아키텍처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타일이 TerrainTypeAsset을 공유하도록 만든다.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Tile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5570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4564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TerrainTypeAsset: 이동 비용, 물 여부, 색상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136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TileInstance: 좌표와 TerrainTypeAsset 참조</a:t>
            </a:r>
            <a:endParaRPr lang="en-US" sz="1580" dirty="0"/>
          </a:p>
        </p:txBody>
      </p:sp>
      <p:sp>
        <p:nvSpPr>
          <p:cNvPr id="23" name="Shape 21"/>
          <p:cNvSpPr/>
          <p:nvPr/>
        </p:nvSpPr>
        <p:spPr>
          <a:xfrm>
            <a:off x="822960" y="44714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43708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WorldGrid: 타일 배열 생성과 조회</a:t>
            </a:r>
            <a:endParaRPr lang="en-US" sz="15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문제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TASK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`03차시_Flyweight/실습파일/FlyweightUnityPractice`를 Unity Hub에서 연다.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841248" y="247802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77440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새 TerrainType을 만들지 않도록 공유 객체를 사용한다.</a:t>
            </a:r>
            <a:endParaRPr lang="en-US" sz="1530" dirty="0"/>
          </a:p>
        </p:txBody>
      </p:sp>
      <p:sp>
        <p:nvSpPr>
          <p:cNvPr id="13" name="Shape 11"/>
          <p:cNvSpPr/>
          <p:nvPr/>
        </p:nvSpPr>
        <p:spPr>
          <a:xfrm>
            <a:off x="841248" y="30632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Grass, Hill, River 타입을 만들고 여러 타일이 같은 인스턴스를 참조하게 한다.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841248" y="36484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547872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HUD에서 선택한 타일의 이동 비용과 물 여부를 출력한다.</a:t>
            </a:r>
            <a:endParaRPr lang="en-US" sz="15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1-4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`TerrainType`을 읽기 전용 데이터 객체로 완성한다.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`WorldGrid`에서 grass, hill, river 공유 인스턴스를 만든다.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생성 시 타일마다 새 객체를 만들지 않고 공유 인스턴스를 넣는다.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Grass 타일이 같은 TerrainType 참조인지 확인한다.</a:t>
            </a:r>
            <a:endParaRPr lang="en-US" sz="156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5-8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또는 좌표 입력으로 타일을 선택한다.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타일의 TerrainType 정보를 HUD에 표시한다.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River는 이동 불가 또는 높은 이동 비용으로 처리한다.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확장: ScriptableObject 기반 TerrainTypeAsset으로 바꾼다.</a:t>
            </a:r>
            <a:endParaRPr lang="en-US" sz="156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 기준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PASS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지형 타입의 타일들이 같은 TerrainType 인스턴스를 공유한다.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841248" y="2478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77440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TerrainType에 좌표나 개별 타일 상태가 들어가지 않는다.</a:t>
            </a:r>
            <a:endParaRPr lang="en-US" sz="1530" dirty="0"/>
          </a:p>
        </p:txBody>
      </p:sp>
      <p:sp>
        <p:nvSpPr>
          <p:cNvPr id="13" name="Shape 11"/>
          <p:cNvSpPr/>
          <p:nvPr/>
        </p:nvSpPr>
        <p:spPr>
          <a:xfrm>
            <a:off x="841248" y="30632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WorldGrid가 switch 대신 TerrainType 객체에서 데이터를 읽는다.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841248" y="36484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547872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코드에서 intrinsic/extrinsic state 구분을 설명할 수 있다.</a:t>
            </a:r>
            <a:endParaRPr lang="en-US" sz="15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PLUS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에셋으로 지형 타입 만들기</a:t>
            </a:r>
            <a:endParaRPr lang="en-US" sz="158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MaterialPropertyBlock으로 타일별 색상만 다르게 하기</a:t>
            </a:r>
            <a:endParaRPr lang="en-US" sz="158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맵에서 메모리 사용량 비교하기</a:t>
            </a:r>
            <a:endParaRPr lang="en-US" sz="158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Factory 캐시로 같은 설정의 TerrainType 재사용하기</a:t>
            </a:r>
            <a:endParaRPr lang="en-US" sz="15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Flyweight는 '같은 것을 계속 들고 있지 말고 공유하자'는 패턴이다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상태는 공유하고, 개별 상태는 인스턴스에 남긴다.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570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5643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Unity의 Mesh, Material, ScriptableObject와 잘 맞는다.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16052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40599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패턴이지만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측정과 불변성 원칙을 함께 지켜야 한다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2749</Words>
  <Application>Microsoft Office PowerPoint</Application>
  <PresentationFormat>화면 슬라이드 쇼(16:10)</PresentationFormat>
  <Paragraphs>450</Paragraphs>
  <Slides>36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Malgun Gothic</vt:lpstr>
      <vt:lpstr>Aptos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3차시 - Flyweight</dc:title>
  <dc:subject>Game Programming Patterns - Flyweight</dc:subject>
  <dc:creator>Codex</dc:creator>
  <cp:lastModifiedBy>재흠 나</cp:lastModifiedBy>
  <cp:revision>4</cp:revision>
  <dcterms:created xsi:type="dcterms:W3CDTF">2026-05-11T01:35:22Z</dcterms:created>
  <dcterms:modified xsi:type="dcterms:W3CDTF">2026-05-11T18:18:59Z</dcterms:modified>
</cp:coreProperties>
</file>