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715000"/>
  <p:notesSz cx="5715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GameLoop. https://gameprogrammingpatterns.com/game-loop.html
Cover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GameLoop. https://gameprogrammingpatterns.com/game-loop.html
오늘의 학습 목표: 패턴이 해결하려는 결합도나 성능 문제를 설명한다. GameLoop 패턴의 핵심 구조를 C# 코드로 읽는다. Unity 장면에서 패턴이 어떻게 보이는지 확인한다. 학생용 TODO 코드를 완성해 동작 기준을 통과한다.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GameLoop. https://gameprogrammingpatterns.com/game-loop.html
문제 상황: 하드웨어마다 속도가 다른데 같은 게임 속도를 유지해야 한다. 처음에는 간단한 조건문이나 직접 참조로 해결할 수 있지만, 기능이 늘어나면 수정 범위가 커진다. 패턴은 이런 반복되는 설계 압력을 이름 붙이고 안전한 구조로 바꾼다.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GameLoop. https://gameprogrammingpatterns.com/game-loop.html
원문 흐름 1: 프로그램이 직접 도는 이유: 이 구간의 문제와 해결 방향을 수업 예제로 바꿔 본다. 초당 프레임: 이 구간의 문제와 해결 방향을 수업 예제로 바꿔 본다. 가변 시간: 이 구간의 문제와 해결 방향을 수업 예제로 바꿔 본다.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GameLoop. https://gameprogrammingpatterns.com/game-loop.html
원문 흐름 2: 고정 시간: Unity/C# 관점에서 장점과 주의점을 연결한다. 누적 시간: Unity/C# 관점에서 장점과 주의점을 연결한다.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GameLoop. https://gameprogrammingpatterns.com/game-loop.html
한 문장 정의: Game Loop는 게임이 끝날 때까지 입력 처리, 시뮬레이션 갱신, 렌더링을 반복하는 구조다. 중요한 것은 코드 모양을 외우는 것이 아니라, 어떤 의존성을 어디로 옮기는지 이해하는 것이다.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GameLoop. https://gameprogrammingpatterns.com/game-loop.html
핵심 구성 요소: Input: GameLoop 패턴을 설명할 때 반복해서 등장하는 역할이다. Update: GameLoop 패턴을 설명할 때 반복해서 등장하는 역할이다. Render: GameLoop 패턴을 설명할 때 반복해서 등장하는 역할이다. Delta Time: GameLoop 패턴을 설명할 때 반복해서 등장하는 역할이다. Fixed Step: GameLoop 패턴을 설명할 때 반복해서 등장하는 역할이다.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GameLoop. https://gameprogrammingpatterns.com/game-loop.html
나쁜 출발점: 모든 시스템이 서로를 직접 알고 호출한다. 작은 기능을 추가할 때 관련 없는 클래스까지 수정해야 한다. 테스트와 재사용이 어려워지고, 실행 순서 버그가 숨어든다.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GameLoop. https://gameprogrammingpatterns.com/game-loop.html
패턴을 적용한 구조: 게임은 입력, 업데이트, 렌더링을 계속 반복하며 시간을 직접 관리한다. 객체의 책임을 분리하고, 바뀌는 부분을 명확한 경계 뒤로 숨긴다. 그 결과 기능 추가 위치가 예측 가능해진다.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GameLoop. https://gameprogrammingpatterns.com/game-loop.html
Representative C# code fragment.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GameLoop. https://gameprogrammingpatterns.com/game-loop.html
Unity에서 보는 위치: Unity의 Update, FixedUpdate, deltaTime을 직접 만든 미니 루프와 비교한다. 실습 장면은 Play 버튼만 눌러도 큰 HUD로 현재 상태를 볼 수 있게 만든다. 학생은 HUD 변화를 보며 TODO 구현이 맞는지 확인한다.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GameLoop. https://gameprogrammingpatterns.com/game-loop.html
장점: 역할이 나뉘어 기능 추가 위치가 선명해진다. 수정 범위가 줄고, 테스트할 단위가 작아진다. 반복되는 설계 문제를 팀에서 같은 이름으로 토론할 수 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GameLoop. https://gameprogrammingpatterns.com/game-loop.html
주의점: 가변 시간은 간단하지만 재현성이 낮고, 고정 시간은 안정적이지만 보간이 필요할 수 있다. 패턴은 자동 정답이 아니라 비용과 이득을 비교해 선택하는 도구다. 작은 예제에 과하게 적용하면 오히려 코드가 길어진다.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GameLoop. https://gameprogrammingpatterns.com/game-loop.html
Unity 실습 목표: deltaTime을 사용해 같은 속도로 움직이는 미니 루프를 만든다. 학생용 스크립트에는 핵심 구현이 TODO로 비워져 있다. 정답 코드는 프로젝트 루트의 `실습자료 정답` 폴더에 따로 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GameLoop. https://gameprogrammingpatterns.com/game-loop.html
학생 TODO 목록: 시간 누적 입력 처리 고정 업데이트 호출 렌더 보간 값 계산 FPS 표시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GameLoop. https://gameprogrammingpatterns.com/game-loop.html
통과 기준: 프로젝트가 컴파일되고 해당 차시 씬을 열 수 있다. Play 버튼을 누르면 큰 화면 UI에서 결과가 확인된다. TODO를 채운 뒤 패턴의 핵심 동작이 눈으로 확인된다.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GameLoop. https://gameprogrammingpatterns.com/game-loop.html
정리: 게임 루프 패턴은 게임은 입력, 업데이트, 렌더링을 계속 반복하며 시간을 직접 관리한다. 패턴 이름보다 중요한 것은 책임 분리와 데이터 흐름을 설명할 수 있는 것이다. 다음 차시에서는 다른 설계 압력이 어떤 패턴으로 바뀌는지 비교한다.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20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102016"/>
          </a:solidFill>
          <a:ln w="12700">
            <a:solidFill>
              <a:srgbClr val="10201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658368"/>
            <a:ext cx="91440" cy="4160520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731520"/>
            <a:ext cx="1097280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F59E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9차시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1115568"/>
            <a:ext cx="7498080" cy="6583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3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GameLoop Pattern</a:t>
            </a:r>
            <a:endParaRPr lang="en-US" sz="3900" dirty="0"/>
          </a:p>
        </p:txBody>
      </p:sp>
      <p:sp>
        <p:nvSpPr>
          <p:cNvPr id="6" name="Text 4"/>
          <p:cNvSpPr/>
          <p:nvPr/>
        </p:nvSpPr>
        <p:spPr>
          <a:xfrm>
            <a:off x="841248" y="1847088"/>
            <a:ext cx="6583680" cy="3840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D8F3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게임 루프 패턴</a:t>
            </a:r>
            <a:endParaRPr lang="en-US" sz="2300" dirty="0"/>
          </a:p>
        </p:txBody>
      </p:sp>
      <p:sp>
        <p:nvSpPr>
          <p:cNvPr id="7" name="Shape 5"/>
          <p:cNvSpPr/>
          <p:nvPr/>
        </p:nvSpPr>
        <p:spPr>
          <a:xfrm>
            <a:off x="841248" y="2852928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42416" y="2743200"/>
            <a:ext cx="722376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5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Input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841248" y="3310128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42416" y="3200400"/>
            <a:ext cx="722376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5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Update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841248" y="3767328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42416" y="3657600"/>
            <a:ext cx="722376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5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Render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841248" y="4224528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42416" y="4114800"/>
            <a:ext cx="722376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5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Delta Time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841248" y="4681728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42416" y="4572000"/>
            <a:ext cx="722376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5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Fixed Step</a:t>
            </a:r>
            <a:endParaRPr lang="en-US" sz="1550" dirty="0"/>
          </a:p>
        </p:txBody>
      </p:sp>
      <p:sp>
        <p:nvSpPr>
          <p:cNvPr id="17" name="Text 15"/>
          <p:cNvSpPr/>
          <p:nvPr/>
        </p:nvSpPr>
        <p:spPr>
          <a:xfrm>
            <a:off x="841248" y="4901184"/>
            <a:ext cx="4389120" cy="2286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B8C8B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· Unity/C#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오늘의 학습 목표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GameLoop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패턴이 해결하려는 결합도나 성능 문제를 설명한다.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84832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75104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GameLoop 패턴의 핵심 구조를 C# 코드로 읽는다.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61488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51760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Unity 장면에서 패턴이 어떻게 보이는지 확인한다.</a:t>
            </a:r>
            <a:endParaRPr lang="en-US" sz="1650" dirty="0"/>
          </a:p>
        </p:txBody>
      </p:sp>
      <p:sp>
        <p:nvSpPr>
          <p:cNvPr id="13" name="Shape 11"/>
          <p:cNvSpPr/>
          <p:nvPr/>
        </p:nvSpPr>
        <p:spPr>
          <a:xfrm>
            <a:off x="777240" y="3438144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78408" y="3328416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학생용 TODO 코드를 완성해 동작 기준을 통과한다.</a:t>
            </a:r>
            <a:endParaRPr lang="en-US" sz="16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D94632"/>
          </a:solidFill>
          <a:ln w="12700">
            <a:solidFill>
              <a:srgbClr val="D946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 상황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GameLoop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하드웨어마다 속도가 다른데 같은 게임 속도를 유지해야 한다.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84832"/>
            <a:ext cx="82296" cy="8229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75104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처음에는 간단한 조건문이나 직접 참조로 해결할 수 있지만, 기능이 늘어나면 수정 범위가 커진다.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61488"/>
            <a:ext cx="82296" cy="8229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51760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패턴은 이런 반복되는 설계 압력을 이름 붙이고 안전한 구조로 바꾼다.</a:t>
            </a:r>
            <a:endParaRPr lang="en-US" sz="16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원문 흐름 1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GameLoop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프로그램이 직접 도는 이유: 이 구간의 문제와 해결 방향을 수업 예제로 바꿔 본다.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84832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75104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초당 프레임: 이 구간의 문제와 해결 방향을 수업 예제로 바꿔 본다.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61488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51760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가변 시간: 이 구간의 문제와 해결 방향을 수업 예제로 바꿔 본다.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원문 흐름 2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GameLoop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고정 시간: Unity/C# 관점에서 장점과 주의점을 연결한다.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84832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75104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누적 시간: Unity/C# 관점에서 장점과 주의점을 연결한다.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문장 정의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GameLoop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Loop는 게임이 끝날 때까지 입력 처리, 시뮬레이션 갱신, 렌더링을 반복하는 구조다.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84832"/>
            <a:ext cx="82296" cy="8229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75104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중요한 것은 코드 모양을 외우는 것이 아니라, 어떤 의존성을 어디로 옮기는지 이해하는 것이다.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구성 요소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GameLoop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Input: GameLoop 패턴을 설명할 때 반복해서 등장하는 역할이다.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84832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75104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Update: GameLoop 패턴을 설명할 때 반복해서 등장하는 역할이다.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61488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51760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Render: GameLoop 패턴을 설명할 때 반복해서 등장하는 역할이다.</a:t>
            </a:r>
            <a:endParaRPr lang="en-US" sz="1650" dirty="0"/>
          </a:p>
        </p:txBody>
      </p:sp>
      <p:sp>
        <p:nvSpPr>
          <p:cNvPr id="13" name="Shape 11"/>
          <p:cNvSpPr/>
          <p:nvPr/>
        </p:nvSpPr>
        <p:spPr>
          <a:xfrm>
            <a:off x="777240" y="3438144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78408" y="3328416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Delta Time: GameLoop 패턴을 설명할 때 반복해서 등장하는 역할이다.</a:t>
            </a:r>
            <a:endParaRPr lang="en-US" sz="1650" dirty="0"/>
          </a:p>
        </p:txBody>
      </p:sp>
      <p:sp>
        <p:nvSpPr>
          <p:cNvPr id="15" name="Shape 13"/>
          <p:cNvSpPr/>
          <p:nvPr/>
        </p:nvSpPr>
        <p:spPr>
          <a:xfrm>
            <a:off x="777240" y="4114800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78408" y="4005072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Fixed Step: GameLoop 패턴을 설명할 때 반복해서 등장하는 역할이다.</a:t>
            </a:r>
            <a:endParaRPr lang="en-US" sz="16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나쁜 출발점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GameLoop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시스템이 서로를 직접 알고 호출한다.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84832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75104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작은 기능을 추가할 때 관련 없는 클래스까지 수정해야 한다.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61488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51760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테스트와 재사용이 어려워지고, 실행 순서 버그가 숨어든다.</a:t>
            </a:r>
            <a:endParaRPr lang="en-US" sz="16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D94632"/>
          </a:solidFill>
          <a:ln w="12700">
            <a:solidFill>
              <a:srgbClr val="D946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패턴을 적용한 구조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GameLoop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게임은 입력, 업데이트, 렌더링을 계속 반복하며 시간을 직접 관리한다.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84832"/>
            <a:ext cx="82296" cy="8229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75104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객체의 책임을 분리하고, 바뀌는 부분을 명확한 경계 뒤로 숨긴다.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61488"/>
            <a:ext cx="82296" cy="8229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51760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결과 기능 추가 위치가 예측 가능해진다.</a:t>
            </a:r>
            <a:endParaRPr lang="en-US" sz="16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C# 핵심 코드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GameLoop | Unity/C#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713232" y="1005840"/>
            <a:ext cx="768096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580" b="1" dirty="0">
                <a:solidFill>
                  <a:srgbClr val="1580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수업에서는 전체 구현보다 패턴의 중심이 되는 코드 조각을 먼저 읽는다.</a:t>
            </a:r>
            <a:endParaRPr lang="en-US" sz="1580" dirty="0"/>
          </a:p>
        </p:txBody>
      </p:sp>
      <p:sp>
        <p:nvSpPr>
          <p:cNvPr id="8" name="Shape 6"/>
          <p:cNvSpPr/>
          <p:nvPr/>
        </p:nvSpPr>
        <p:spPr>
          <a:xfrm>
            <a:off x="694944" y="1444752"/>
            <a:ext cx="7936992" cy="3337560"/>
          </a:xfrm>
          <a:prstGeom prst="roundRect">
            <a:avLst>
              <a:gd name="adj" fmla="val 1644"/>
            </a:avLst>
          </a:prstGeom>
          <a:solidFill>
            <a:srgbClr val="101827"/>
          </a:solidFill>
          <a:ln w="12700">
            <a:solidFill>
              <a:srgbClr val="2B364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77824" y="1609344"/>
            <a:ext cx="7571232" cy="30266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while (lag &gt;= fixedDelta)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Simulate(fixedDelta);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lag -= fixedDelta;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Unity에서 보는 위치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GameLoop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Unity의 Update, FixedUpdate, deltaTime을 직접 만든 미니 루프와 비교한다.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66544"/>
            <a:ext cx="82296" cy="8229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56816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장면은 Play 버튼만 눌러도 큰 HUD로 현재 상태를 볼 수 있게 만든다.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24912"/>
            <a:ext cx="82296" cy="8229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15184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학생은 HUD 변화를 보며 TODO 구현이 맞는지 확인한다.</a:t>
            </a:r>
            <a:endParaRPr lang="en-US" sz="16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장점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GameLoop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역할이 나뉘어 기능 추가 위치가 선명해진다.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66544"/>
            <a:ext cx="82296" cy="82296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56816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 범위가 줄고, 테스트할 단위가 작아진다.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24912"/>
            <a:ext cx="82296" cy="82296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15184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반복되는 설계 문제를 팀에서 같은 이름으로 토론할 수 있다.</a:t>
            </a:r>
            <a:endParaRPr lang="en-US" sz="16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주의점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GameLoop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D94632"/>
          </a:solidFill>
          <a:ln w="12700">
            <a:solidFill>
              <a:srgbClr val="D9463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가변 시간은 간단하지만 재현성이 낮고, 고정 시간은 안정적이지만 보간이 필요할 수 있다.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66544"/>
            <a:ext cx="82296" cy="82296"/>
          </a:xfrm>
          <a:prstGeom prst="ellipse">
            <a:avLst/>
          </a:prstGeom>
          <a:solidFill>
            <a:srgbClr val="D94632"/>
          </a:solidFill>
          <a:ln w="12700">
            <a:solidFill>
              <a:srgbClr val="D9463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56816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패턴은 자동 정답이 아니라 비용과 이득을 비교해 선택하는 도구다.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24912"/>
            <a:ext cx="82296" cy="82296"/>
          </a:xfrm>
          <a:prstGeom prst="ellipse">
            <a:avLst/>
          </a:prstGeom>
          <a:solidFill>
            <a:srgbClr val="D94632"/>
          </a:solidFill>
          <a:ln w="12700">
            <a:solidFill>
              <a:srgbClr val="D9463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15184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작은 예제에 과하게 적용하면 오히려 코드가 길어진다.</a:t>
            </a:r>
            <a:endParaRPr lang="en-US" sz="16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Unity 실습 목표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14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GameLoop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deltaTime을 사용해 같은 속도로 움직이는 미니 루프를 만든다.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66544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56816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학생용 스크립트에는 핵심 구현이 TODO로 비워져 있다.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24912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15184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정답 코드는 프로젝트 루트의 `실습자료 정답` 폴더에 따로 둔다.</a:t>
            </a:r>
            <a:endParaRPr lang="en-US" sz="16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D94632"/>
          </a:solidFill>
          <a:ln w="12700">
            <a:solidFill>
              <a:srgbClr val="D946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학생 TODO 목록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GameLoop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 누적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66544"/>
            <a:ext cx="82296" cy="8229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56816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처리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24912"/>
            <a:ext cx="82296" cy="8229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15184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고정 업데이트 호출</a:t>
            </a:r>
            <a:endParaRPr lang="en-US" sz="1650" dirty="0"/>
          </a:p>
        </p:txBody>
      </p:sp>
      <p:sp>
        <p:nvSpPr>
          <p:cNvPr id="13" name="Shape 11"/>
          <p:cNvSpPr/>
          <p:nvPr/>
        </p:nvSpPr>
        <p:spPr>
          <a:xfrm>
            <a:off x="777240" y="3383280"/>
            <a:ext cx="82296" cy="8229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78408" y="3273552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렌더 보간 값 계산</a:t>
            </a:r>
            <a:endParaRPr lang="en-US" sz="1650" dirty="0"/>
          </a:p>
        </p:txBody>
      </p:sp>
      <p:sp>
        <p:nvSpPr>
          <p:cNvPr id="15" name="Shape 13"/>
          <p:cNvSpPr/>
          <p:nvPr/>
        </p:nvSpPr>
        <p:spPr>
          <a:xfrm>
            <a:off x="777240" y="4041648"/>
            <a:ext cx="82296" cy="8229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78408" y="3931920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FPS 표시</a:t>
            </a:r>
            <a:endParaRPr lang="en-US" sz="16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통과 기준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16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GameLoop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프로젝트가 컴파일되고 해당 차시 씬을 열 수 있다.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66544"/>
            <a:ext cx="82296" cy="82296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56816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Play 버튼을 누르면 큰 화면 UI에서 결과가 확인된다.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24912"/>
            <a:ext cx="82296" cy="82296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15184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TODO를 채운 뒤 패턴의 핵심 동작이 눈으로 확인된다.</a:t>
            </a:r>
            <a:endParaRPr lang="en-US" sz="16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정리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17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GameLoop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D94632"/>
          </a:solidFill>
          <a:ln w="12700">
            <a:solidFill>
              <a:srgbClr val="D9463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게임 루프 패턴은 게임은 입력, 업데이트, 렌더링을 계속 반복하며 시간을 직접 관리한다.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66544"/>
            <a:ext cx="82296" cy="82296"/>
          </a:xfrm>
          <a:prstGeom prst="ellipse">
            <a:avLst/>
          </a:prstGeom>
          <a:solidFill>
            <a:srgbClr val="D94632"/>
          </a:solidFill>
          <a:ln w="12700">
            <a:solidFill>
              <a:srgbClr val="D9463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56816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패턴 이름보다 중요한 것은 책임 분리와 데이터 흐름을 설명할 수 있는 것이다.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24912"/>
            <a:ext cx="82296" cy="82296"/>
          </a:xfrm>
          <a:prstGeom prst="ellipse">
            <a:avLst/>
          </a:prstGeom>
          <a:solidFill>
            <a:srgbClr val="D94632"/>
          </a:solidFill>
          <a:ln w="12700">
            <a:solidFill>
              <a:srgbClr val="D9463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15184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차시에서는 다른 설계 압력이 어떤 패턴으로 바뀌는지 비교한다.</a:t>
            </a:r>
            <a:endParaRPr lang="en-US" sz="16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경기게임마이스터고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유니티 프로그래밍 패턴 9차시 - GameLoop</dc:title>
  <dc:subject>Game Programming Patterns - GameLoop</dc:subject>
  <dc:creator>Codex</dc:creator>
  <cp:lastModifiedBy>Codex</cp:lastModifiedBy>
  <cp:revision>1</cp:revision>
  <dcterms:created xsi:type="dcterms:W3CDTF">2026-05-17T08:07:59Z</dcterms:created>
  <dcterms:modified xsi:type="dcterms:W3CDTF">2026-05-17T08:07:59Z</dcterms:modified>
</cp:coreProperties>
</file>